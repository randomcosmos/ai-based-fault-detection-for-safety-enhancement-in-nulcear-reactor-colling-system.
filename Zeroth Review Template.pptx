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0"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DC15C-D6EF-5FD4-64B0-CC10FAE9A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39D2E6-77E1-41CD-6C0A-6255E88AC0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88559E-7BCE-73DA-751F-863B85AD2597}"/>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5" name="Footer Placeholder 4">
            <a:extLst>
              <a:ext uri="{FF2B5EF4-FFF2-40B4-BE49-F238E27FC236}">
                <a16:creationId xmlns:a16="http://schemas.microsoft.com/office/drawing/2014/main" id="{8C1D8829-A5E1-CE7B-275C-5E20D6501A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8F19ED-48D2-AF25-CEA1-ED2FED5362EE}"/>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3056806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35045-020F-1E00-23C5-8C9FC0B250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D8E6E3-048D-C382-E639-BEA827707D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3FDAEF-0AF1-364C-324F-0163544270E5}"/>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5" name="Footer Placeholder 4">
            <a:extLst>
              <a:ext uri="{FF2B5EF4-FFF2-40B4-BE49-F238E27FC236}">
                <a16:creationId xmlns:a16="http://schemas.microsoft.com/office/drawing/2014/main" id="{00BD7B10-04F8-C96F-7B1D-6B813C1123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B791DB-6B85-82C8-3F66-0A8EB5FDEEF6}"/>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3973978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83A46-F3CB-D2F1-9474-BBFE2AB54C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DB7922-16AB-71B2-8331-4772D28D47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87B23-27FB-590F-0E42-F09216A04B02}"/>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5" name="Footer Placeholder 4">
            <a:extLst>
              <a:ext uri="{FF2B5EF4-FFF2-40B4-BE49-F238E27FC236}">
                <a16:creationId xmlns:a16="http://schemas.microsoft.com/office/drawing/2014/main" id="{2016F3BB-5E75-DFBC-6DCF-09E70FA92B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4541CC-1BF6-5B62-85A4-60B52F1072DB}"/>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785456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2986-86C3-9343-07E4-1DB03647BE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205B3C-31B6-4CFD-4BD6-403AF7D72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5861918-79BC-9712-F6E1-6F547AF9F7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CA4FDC-B9E9-45C3-EB49-E38F71D8FD5B}"/>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6" name="Footer Placeholder 5">
            <a:extLst>
              <a:ext uri="{FF2B5EF4-FFF2-40B4-BE49-F238E27FC236}">
                <a16:creationId xmlns:a16="http://schemas.microsoft.com/office/drawing/2014/main" id="{5880BA8C-282A-06C3-0C51-C9AA7B2A55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DA790A-5A58-6C9A-A14C-E31E0C461E69}"/>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473788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8C6B3-378C-4534-4AA7-39E9646390C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8B7363-E775-BD0E-3F09-E714545AD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740947-9E03-4935-D10C-0273BA7F6A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1A22E75-1861-E63C-764D-E247CF3B0F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0B2C46-FDF1-5827-B332-E2FC1318C1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24892B-5B7F-0CF3-D01C-23B3DB32B20A}"/>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8" name="Footer Placeholder 7">
            <a:extLst>
              <a:ext uri="{FF2B5EF4-FFF2-40B4-BE49-F238E27FC236}">
                <a16:creationId xmlns:a16="http://schemas.microsoft.com/office/drawing/2014/main" id="{E5768C5A-851D-44B7-67A4-58E34B0D2D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2D2462-F828-9555-D73E-D3C326257FBF}"/>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392143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B8EB-9336-873C-ED4E-4CE5C92B81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9A93F44-AD4D-CC61-C89C-AA915FE24931}"/>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4" name="Footer Placeholder 3">
            <a:extLst>
              <a:ext uri="{FF2B5EF4-FFF2-40B4-BE49-F238E27FC236}">
                <a16:creationId xmlns:a16="http://schemas.microsoft.com/office/drawing/2014/main" id="{8748716A-77B6-7FA7-822F-14199D36B12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68225F-23BC-3484-1ABB-EC81495ADBC7}"/>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12853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296459-10A3-AE49-8B1D-2476012397D9}"/>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3" name="Footer Placeholder 2">
            <a:extLst>
              <a:ext uri="{FF2B5EF4-FFF2-40B4-BE49-F238E27FC236}">
                <a16:creationId xmlns:a16="http://schemas.microsoft.com/office/drawing/2014/main" id="{64C7B6B7-55A9-0690-4299-528FDDB14A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725117-4F97-E231-882D-BC010FB6770D}"/>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058904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BB671-BCBD-C256-1E5D-46C213E76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40F536-8DDA-7B62-54CB-EEB8AF7938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A60536-C894-E666-6AB3-7928C814ED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F380A0-AEEC-9BDA-C4D4-15F3355EA31E}"/>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6" name="Footer Placeholder 5">
            <a:extLst>
              <a:ext uri="{FF2B5EF4-FFF2-40B4-BE49-F238E27FC236}">
                <a16:creationId xmlns:a16="http://schemas.microsoft.com/office/drawing/2014/main" id="{1C6C4400-6685-5CD6-D2CC-D80A0D573F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4B1A60-652E-5E09-67ED-6ACBF03E51A9}"/>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166305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D973-558C-D46D-95D6-AE0EF80961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AC0F90-5F0A-089D-9CF3-1AECFDFC31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7B4EB0A-BD95-3EF3-D6D7-36F07B1E2B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2CAF5-C108-22BE-864A-1951557F01C0}"/>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6" name="Footer Placeholder 5">
            <a:extLst>
              <a:ext uri="{FF2B5EF4-FFF2-40B4-BE49-F238E27FC236}">
                <a16:creationId xmlns:a16="http://schemas.microsoft.com/office/drawing/2014/main" id="{C121111F-FA03-C45E-2DB4-5A976CBC8D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A984CD-50EA-C10F-94A3-9020B752F59A}"/>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3699659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2FC22-4027-60D2-1749-229A5F290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DBC007-97CA-CD1B-ACF3-A309854614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F29E15-4057-1B47-E964-B8F95FAD0619}"/>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5" name="Footer Placeholder 4">
            <a:extLst>
              <a:ext uri="{FF2B5EF4-FFF2-40B4-BE49-F238E27FC236}">
                <a16:creationId xmlns:a16="http://schemas.microsoft.com/office/drawing/2014/main" id="{05116BA7-CECC-8A02-B5E0-C851601CDF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A89F14-DA11-7426-3CE0-595E61CD6206}"/>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1484115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856F7-6FCC-5914-EFB7-62B805FC69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6BD8F7-EAA7-516D-2A72-7C424F4DFB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1A6923-A759-D738-F58D-BC76A2FA66BE}"/>
              </a:ext>
            </a:extLst>
          </p:cNvPr>
          <p:cNvSpPr>
            <a:spLocks noGrp="1"/>
          </p:cNvSpPr>
          <p:nvPr>
            <p:ph type="dt" sz="half" idx="10"/>
          </p:nvPr>
        </p:nvSpPr>
        <p:spPr/>
        <p:txBody>
          <a:bodyPr/>
          <a:lstStyle/>
          <a:p>
            <a:fld id="{BCEF6CBA-5FF2-4BA1-A776-094FD39C6F53}" type="datetimeFigureOut">
              <a:rPr lang="en-IN" smtClean="0"/>
              <a:t>23-01-2026</a:t>
            </a:fld>
            <a:endParaRPr lang="en-IN"/>
          </a:p>
        </p:txBody>
      </p:sp>
      <p:sp>
        <p:nvSpPr>
          <p:cNvPr id="5" name="Footer Placeholder 4">
            <a:extLst>
              <a:ext uri="{FF2B5EF4-FFF2-40B4-BE49-F238E27FC236}">
                <a16:creationId xmlns:a16="http://schemas.microsoft.com/office/drawing/2014/main" id="{A0586AA9-1BAE-DB0A-56D6-678D40F829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9FF06A-9E3B-7121-B482-BCC547007803}"/>
              </a:ext>
            </a:extLst>
          </p:cNvPr>
          <p:cNvSpPr>
            <a:spLocks noGrp="1"/>
          </p:cNvSpPr>
          <p:nvPr>
            <p:ph type="sldNum" sz="quarter" idx="12"/>
          </p:nvPr>
        </p:nvSpPr>
        <p:spPr/>
        <p:txBody>
          <a:bodyPr/>
          <a:lstStyle/>
          <a:p>
            <a:fld id="{69BD151E-0CEF-4ED0-9463-9A59D7EF7EF6}" type="slidenum">
              <a:rPr lang="en-IN" smtClean="0"/>
              <a:t>‹#›</a:t>
            </a:fld>
            <a:endParaRPr lang="en-IN"/>
          </a:p>
        </p:txBody>
      </p:sp>
    </p:spTree>
    <p:extLst>
      <p:ext uri="{BB962C8B-B14F-4D97-AF65-F5344CB8AC3E}">
        <p14:creationId xmlns:p14="http://schemas.microsoft.com/office/powerpoint/2010/main" val="2044911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447580-0BE0-7B04-8D0C-17C8FE2939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B9C76E-1E77-0D38-7471-FC5F802738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A85AF9-7F73-23C4-C475-1036C0CE9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EF6CBA-5FF2-4BA1-A776-094FD39C6F53}" type="datetimeFigureOut">
              <a:rPr lang="en-IN" smtClean="0"/>
              <a:t>23-01-2026</a:t>
            </a:fld>
            <a:endParaRPr lang="en-IN"/>
          </a:p>
        </p:txBody>
      </p:sp>
      <p:sp>
        <p:nvSpPr>
          <p:cNvPr id="5" name="Footer Placeholder 4">
            <a:extLst>
              <a:ext uri="{FF2B5EF4-FFF2-40B4-BE49-F238E27FC236}">
                <a16:creationId xmlns:a16="http://schemas.microsoft.com/office/drawing/2014/main" id="{8F418B36-189B-3D96-4AB2-0D978F032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B35DDBA-4976-1099-1655-4E82A80D3C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D151E-0CEF-4ED0-9463-9A59D7EF7EF6}" type="slidenum">
              <a:rPr lang="en-IN" smtClean="0"/>
              <a:t>‹#›</a:t>
            </a:fld>
            <a:endParaRPr lang="en-IN"/>
          </a:p>
        </p:txBody>
      </p:sp>
    </p:spTree>
    <p:extLst>
      <p:ext uri="{BB962C8B-B14F-4D97-AF65-F5344CB8AC3E}">
        <p14:creationId xmlns:p14="http://schemas.microsoft.com/office/powerpoint/2010/main" val="4008569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C4C8B-E490-A690-7E2B-CE1A08090B8E}"/>
              </a:ext>
            </a:extLst>
          </p:cNvPr>
          <p:cNvSpPr>
            <a:spLocks noGrp="1"/>
          </p:cNvSpPr>
          <p:nvPr>
            <p:ph type="ctrTitle"/>
          </p:nvPr>
        </p:nvSpPr>
        <p:spPr>
          <a:xfrm>
            <a:off x="1524000" y="1250302"/>
            <a:ext cx="9144000" cy="3261380"/>
          </a:xfrm>
        </p:spPr>
        <p:txBody>
          <a:bodyPr>
            <a:normAutofit fontScale="90000"/>
          </a:bodyPr>
          <a:lstStyle/>
          <a:p>
            <a:pPr>
              <a:lnSpc>
                <a:spcPct val="150000"/>
              </a:lnSpc>
            </a:pPr>
            <a:br>
              <a:rPr lang="en-US" sz="40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ZEROTH REVIEW</a:t>
            </a:r>
            <a:br>
              <a:rPr lang="en-US" sz="4000" dirty="0">
                <a:latin typeface="Times New Roman" panose="02020603050405020304" pitchFamily="18" charset="0"/>
                <a:cs typeface="Times New Roman" panose="02020603050405020304" pitchFamily="18" charset="0"/>
              </a:rPr>
            </a:br>
            <a:r>
              <a:rPr lang="en-US" sz="3600" b="1" dirty="0"/>
              <a:t>AI‑Based Fault Detection in Virtual Sensors for Enhancing Safety in Nuclear Reactor Cooling Systems</a:t>
            </a:r>
            <a:br>
              <a:rPr lang="en-US" dirty="0"/>
            </a:br>
            <a:r>
              <a:rPr lang="en-US" sz="2700" dirty="0">
                <a:latin typeface="Times New Roman" panose="02020603050405020304" pitchFamily="18" charset="0"/>
                <a:cs typeface="Times New Roman" panose="02020603050405020304" pitchFamily="18" charset="0"/>
              </a:rPr>
              <a:t>Project Category: </a:t>
            </a:r>
            <a:r>
              <a:rPr lang="en-US" sz="2000" dirty="0">
                <a:latin typeface="Times New Roman" panose="02020603050405020304" pitchFamily="18" charset="0"/>
                <a:cs typeface="Times New Roman" panose="02020603050405020304" pitchFamily="18" charset="0"/>
              </a:rPr>
              <a:t>RESEARCH</a:t>
            </a:r>
            <a:endParaRPr lang="en-IN" sz="4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B62C648-D747-6594-131E-9E1DA54D5EAD}"/>
              </a:ext>
            </a:extLst>
          </p:cNvPr>
          <p:cNvSpPr>
            <a:spLocks noGrp="1"/>
          </p:cNvSpPr>
          <p:nvPr>
            <p:ph type="subTitle" idx="1"/>
          </p:nvPr>
        </p:nvSpPr>
        <p:spPr>
          <a:xfrm>
            <a:off x="380145" y="4325420"/>
            <a:ext cx="11435136" cy="1203699"/>
          </a:xfrm>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Guide Name                                                                Student Name &amp; Registration Number</a:t>
            </a:r>
          </a:p>
          <a:p>
            <a:endParaRPr lang="en-IN" dirty="0">
              <a:latin typeface="Times New Roman" panose="02020603050405020304" pitchFamily="18" charset="0"/>
              <a:cs typeface="Times New Roman" panose="02020603050405020304" pitchFamily="18" charset="0"/>
            </a:endParaRPr>
          </a:p>
        </p:txBody>
      </p:sp>
      <p:pic>
        <p:nvPicPr>
          <p:cNvPr id="1026" name="Picture 2" descr="SRM Institute of Science and Technology - Wikipedia">
            <a:extLst>
              <a:ext uri="{FF2B5EF4-FFF2-40B4-BE49-F238E27FC236}">
                <a16:creationId xmlns:a16="http://schemas.microsoft.com/office/drawing/2014/main" id="{77CE9206-B4A2-2784-EBA4-970EB1569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50286" y="71919"/>
            <a:ext cx="1661019" cy="16557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19D321-FDF7-3319-1459-E7BCB82742D4}"/>
              </a:ext>
            </a:extLst>
          </p:cNvPr>
          <p:cNvSpPr txBox="1"/>
          <p:nvPr/>
        </p:nvSpPr>
        <p:spPr>
          <a:xfrm>
            <a:off x="6879771" y="5205953"/>
            <a:ext cx="4155233" cy="646331"/>
          </a:xfrm>
          <a:prstGeom prst="rect">
            <a:avLst/>
          </a:prstGeom>
          <a:noFill/>
        </p:spPr>
        <p:txBody>
          <a:bodyPr wrap="square" rtlCol="0">
            <a:spAutoFit/>
          </a:bodyPr>
          <a:lstStyle/>
          <a:p>
            <a:r>
              <a:rPr lang="en-US" dirty="0">
                <a:latin typeface="+mj-lt"/>
              </a:rPr>
              <a:t>Srijan Thakur - RA2311047010081</a:t>
            </a:r>
          </a:p>
          <a:p>
            <a:r>
              <a:rPr lang="en-US" dirty="0">
                <a:latin typeface="+mj-lt"/>
              </a:rPr>
              <a:t>Praket Kumar P - RA2311047010084</a:t>
            </a:r>
          </a:p>
        </p:txBody>
      </p:sp>
      <p:sp>
        <p:nvSpPr>
          <p:cNvPr id="5" name="TextBox 4">
            <a:extLst>
              <a:ext uri="{FF2B5EF4-FFF2-40B4-BE49-F238E27FC236}">
                <a16:creationId xmlns:a16="http://schemas.microsoft.com/office/drawing/2014/main" id="{1232DE39-0154-65BB-0C9D-B0CE3705117C}"/>
              </a:ext>
            </a:extLst>
          </p:cNvPr>
          <p:cNvSpPr txBox="1"/>
          <p:nvPr/>
        </p:nvSpPr>
        <p:spPr>
          <a:xfrm>
            <a:off x="477303" y="5163250"/>
            <a:ext cx="4155233" cy="369332"/>
          </a:xfrm>
          <a:prstGeom prst="rect">
            <a:avLst/>
          </a:prstGeom>
          <a:noFill/>
        </p:spPr>
        <p:txBody>
          <a:bodyPr wrap="square" rtlCol="0">
            <a:spAutoFit/>
          </a:bodyPr>
          <a:lstStyle/>
          <a:p>
            <a:r>
              <a:rPr lang="en-US" dirty="0">
                <a:latin typeface="+mj-lt"/>
              </a:rPr>
              <a:t>Dr. P. Sridevi Ponmalar</a:t>
            </a:r>
          </a:p>
        </p:txBody>
      </p:sp>
    </p:spTree>
    <p:extLst>
      <p:ext uri="{BB962C8B-B14F-4D97-AF65-F5344CB8AC3E}">
        <p14:creationId xmlns:p14="http://schemas.microsoft.com/office/powerpoint/2010/main" val="2458337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DDA3-7A09-E5E0-2A69-456914C0757F}"/>
              </a:ext>
            </a:extLst>
          </p:cNvPr>
          <p:cNvSpPr>
            <a:spLocks noGrp="1"/>
          </p:cNvSpPr>
          <p:nvPr>
            <p:ph type="title"/>
          </p:nvPr>
        </p:nvSpPr>
        <p:spPr/>
        <p:txBody>
          <a:bodyPr/>
          <a:lstStyle/>
          <a:p>
            <a:pPr algn="ctr"/>
            <a:r>
              <a:rPr lang="en-US" dirty="0"/>
              <a:t>Abstract</a:t>
            </a:r>
            <a:endParaRPr lang="en-IN" dirty="0"/>
          </a:p>
        </p:txBody>
      </p:sp>
      <p:sp>
        <p:nvSpPr>
          <p:cNvPr id="3" name="Content Placeholder 2">
            <a:extLst>
              <a:ext uri="{FF2B5EF4-FFF2-40B4-BE49-F238E27FC236}">
                <a16:creationId xmlns:a16="http://schemas.microsoft.com/office/drawing/2014/main" id="{6370AE60-1BCF-9DB5-0DD1-9677B37D3C49}"/>
              </a:ext>
            </a:extLst>
          </p:cNvPr>
          <p:cNvSpPr>
            <a:spLocks noGrp="1"/>
          </p:cNvSpPr>
          <p:nvPr>
            <p:ph idx="1"/>
          </p:nvPr>
        </p:nvSpPr>
        <p:spPr/>
        <p:txBody>
          <a:bodyPr>
            <a:noAutofit/>
          </a:bodyPr>
          <a:lstStyle/>
          <a:p>
            <a:pPr marL="0" indent="0" algn="just">
              <a:buNone/>
            </a:pPr>
            <a:r>
              <a:rPr lang="en-US" sz="2100" dirty="0"/>
              <a:t>Reliable sensor measurements are critical for safe operation of nuclear reactor cooling systems, as they directly influence protection logic such as SCRAM and emergency core cooling actuation. However, sensors are prone to drift, bias, noise, and failures, which can cause incorrect state estimation and unsafe control actions. This project proposes an </a:t>
            </a:r>
            <a:r>
              <a:rPr lang="en-US" sz="2100" b="1" dirty="0"/>
              <a:t>AI‑based fault detection framework using virtual sensors</a:t>
            </a:r>
            <a:r>
              <a:rPr lang="en-US" sz="2100" dirty="0"/>
              <a:t> to enhance the reliability of nuclear cooling instrumentation. Due to restricted access to real nuclear data, a </a:t>
            </a:r>
            <a:r>
              <a:rPr lang="en-US" sz="2100" b="1" dirty="0"/>
              <a:t>multi‑source dataset strategy</a:t>
            </a:r>
            <a:r>
              <a:rPr lang="en-US" sz="2100" dirty="0"/>
              <a:t> is adopted: (</a:t>
            </a:r>
            <a:r>
              <a:rPr lang="en-US" sz="2100" dirty="0" err="1"/>
              <a:t>i</a:t>
            </a:r>
            <a:r>
              <a:rPr lang="en-US" sz="2100" dirty="0"/>
              <a:t>) physics‑based digital twin (ODE model), (ii) MATLAB/Simulink cooling‑loop simulation with fault injection, and (iii) the Tennessee Eastman Process (TEP) benchmark for validation. A </a:t>
            </a:r>
            <a:r>
              <a:rPr lang="en-US" sz="2100" b="1" dirty="0"/>
              <a:t>GRU/LSTM virtual sensor</a:t>
            </a:r>
            <a:r>
              <a:rPr lang="en-US" sz="2100" dirty="0"/>
              <a:t> predicts expected sensor values, and </a:t>
            </a:r>
            <a:r>
              <a:rPr lang="en-US" sz="2100" b="1" dirty="0"/>
              <a:t>residual‑based anomaly detection</a:t>
            </a:r>
            <a:r>
              <a:rPr lang="en-US" sz="2100" dirty="0"/>
              <a:t> identifies faults, followed by </a:t>
            </a:r>
            <a:r>
              <a:rPr lang="en-US" sz="2100" b="1" dirty="0"/>
              <a:t>fault classification</a:t>
            </a:r>
            <a:r>
              <a:rPr lang="en-US" sz="2100" dirty="0"/>
              <a:t>. A nuclear safety layer estimates </a:t>
            </a:r>
            <a:r>
              <a:rPr lang="en-US" sz="2100" b="1" dirty="0"/>
              <a:t>sensor health, severity, and safety impact</a:t>
            </a:r>
            <a:r>
              <a:rPr lang="en-US" sz="2100" dirty="0"/>
              <a:t>, while </a:t>
            </a:r>
            <a:r>
              <a:rPr lang="en-US" sz="2100" b="1" dirty="0"/>
              <a:t>SHAP‑based explainable AI</a:t>
            </a:r>
            <a:r>
              <a:rPr lang="en-US" sz="2100" dirty="0"/>
              <a:t> provides interpretable alarms. The system aims to </a:t>
            </a:r>
            <a:r>
              <a:rPr lang="en-US" sz="2100" b="1" dirty="0"/>
              <a:t>detect faults early, reduce false alarms during transients, and improve nuclear plant safety and reliability</a:t>
            </a:r>
            <a:r>
              <a:rPr lang="en-US" sz="2100" dirty="0"/>
              <a:t>.</a:t>
            </a:r>
            <a:endParaRPr lang="en-IN" sz="2100" dirty="0"/>
          </a:p>
        </p:txBody>
      </p:sp>
    </p:spTree>
    <p:extLst>
      <p:ext uri="{BB962C8B-B14F-4D97-AF65-F5344CB8AC3E}">
        <p14:creationId xmlns:p14="http://schemas.microsoft.com/office/powerpoint/2010/main" val="515803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66279-38BF-B8B1-9A5C-F3027352E0E3}"/>
              </a:ext>
            </a:extLst>
          </p:cNvPr>
          <p:cNvSpPr>
            <a:spLocks noGrp="1"/>
          </p:cNvSpPr>
          <p:nvPr>
            <p:ph type="title"/>
          </p:nvPr>
        </p:nvSpPr>
        <p:spPr/>
        <p:txBody>
          <a:bodyPr/>
          <a:lstStyle/>
          <a:p>
            <a:pPr algn="ctr"/>
            <a:r>
              <a:rPr lang="en-US" dirty="0"/>
              <a:t>Introduction</a:t>
            </a:r>
            <a:endParaRPr lang="en-IN" dirty="0"/>
          </a:p>
        </p:txBody>
      </p:sp>
      <p:sp>
        <p:nvSpPr>
          <p:cNvPr id="3" name="Content Placeholder 2">
            <a:extLst>
              <a:ext uri="{FF2B5EF4-FFF2-40B4-BE49-F238E27FC236}">
                <a16:creationId xmlns:a16="http://schemas.microsoft.com/office/drawing/2014/main" id="{2D4E1B9E-B6CE-FC33-1BC3-4710F2B171E7}"/>
              </a:ext>
            </a:extLst>
          </p:cNvPr>
          <p:cNvSpPr>
            <a:spLocks noGrp="1"/>
          </p:cNvSpPr>
          <p:nvPr>
            <p:ph idx="1"/>
          </p:nvPr>
        </p:nvSpPr>
        <p:spPr>
          <a:xfrm>
            <a:off x="773806" y="1529410"/>
            <a:ext cx="10515600" cy="4351338"/>
          </a:xfrm>
        </p:spPr>
        <p:txBody>
          <a:bodyPr>
            <a:noAutofit/>
          </a:bodyPr>
          <a:lstStyle/>
          <a:p>
            <a:pPr marL="0" indent="0" algn="just">
              <a:buNone/>
            </a:pPr>
            <a:r>
              <a:rPr lang="en-US" sz="2100" dirty="0"/>
              <a:t>Nuclear power plants rely on highly sensitive instrumentation to continuously monitor the reactor coolant system (RCS). Sensors measuring </a:t>
            </a:r>
            <a:r>
              <a:rPr lang="en-US" sz="2100" b="1" dirty="0"/>
              <a:t>temperature, pressure, and flow</a:t>
            </a:r>
            <a:r>
              <a:rPr lang="en-US" sz="2100" dirty="0"/>
              <a:t> directly influence safety mechanisms such as </a:t>
            </a:r>
            <a:r>
              <a:rPr lang="en-US" sz="2100" b="1" dirty="0"/>
              <a:t>reactor trip (SCRAM)</a:t>
            </a:r>
            <a:r>
              <a:rPr lang="en-US" sz="2100" dirty="0"/>
              <a:t>, </a:t>
            </a:r>
            <a:r>
              <a:rPr lang="en-US" sz="2100" b="1" dirty="0"/>
              <a:t>loss‑of‑coolant accident (LOCA) detection</a:t>
            </a:r>
            <a:r>
              <a:rPr lang="en-US" sz="2100" dirty="0"/>
              <a:t>, and </a:t>
            </a:r>
            <a:r>
              <a:rPr lang="en-US" sz="2100" b="1" dirty="0"/>
              <a:t>emergency core cooling system (ECCS) actuation</a:t>
            </a:r>
            <a:r>
              <a:rPr lang="en-US" sz="2100" dirty="0"/>
              <a:t>. Any incorrect sensor reading can therefore result in unsafe control actions or unnecessary plant shutdowns.</a:t>
            </a:r>
          </a:p>
          <a:p>
            <a:pPr marL="0" indent="0" algn="just">
              <a:buNone/>
            </a:pPr>
            <a:r>
              <a:rPr lang="en-US" sz="2100" dirty="0"/>
              <a:t>However, physical sensors are prone to </a:t>
            </a:r>
            <a:r>
              <a:rPr lang="en-US" sz="2100" b="1" dirty="0"/>
              <a:t>drift, bias, noise, ageing, and sudden failure</a:t>
            </a:r>
            <a:r>
              <a:rPr lang="en-US" sz="2100" dirty="0"/>
              <a:t>. These faults often develop slowly and are difficult to detect using traditional rule‑based or threshold methods. In complex nuclear systems with tightly coupled variables, a single faulty sensor can mislead operators and protection logic, increasing safety risk and reducing plant reliability.</a:t>
            </a:r>
          </a:p>
          <a:p>
            <a:pPr marL="0" indent="0" algn="just">
              <a:buNone/>
            </a:pPr>
            <a:r>
              <a:rPr lang="en-US" sz="2100" dirty="0"/>
              <a:t>To address this challenge, this project proposes an </a:t>
            </a:r>
            <a:r>
              <a:rPr lang="en-US" sz="2100" b="1" dirty="0"/>
              <a:t>AI‑based fault detection and diagnosis system using virtual sensors</a:t>
            </a:r>
            <a:r>
              <a:rPr lang="en-US" sz="2100" dirty="0"/>
              <a:t> for nuclear cooling instrumentation. A virtual sensor estimates the expected value of a physical sensor using correlated measurements from other instruments. Any mismatch between the real and predicted values forms a </a:t>
            </a:r>
            <a:r>
              <a:rPr lang="en-US" sz="2100" b="1" dirty="0"/>
              <a:t>residual</a:t>
            </a:r>
            <a:r>
              <a:rPr lang="en-US" sz="2100" dirty="0"/>
              <a:t>, which is used as a fault signature.</a:t>
            </a:r>
          </a:p>
        </p:txBody>
      </p:sp>
    </p:spTree>
    <p:extLst>
      <p:ext uri="{BB962C8B-B14F-4D97-AF65-F5344CB8AC3E}">
        <p14:creationId xmlns:p14="http://schemas.microsoft.com/office/powerpoint/2010/main" val="907613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D70E0-5C04-941C-F396-425081098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B9E42-A598-B6EB-B139-283F1FE40CF2}"/>
              </a:ext>
            </a:extLst>
          </p:cNvPr>
          <p:cNvSpPr>
            <a:spLocks noGrp="1"/>
          </p:cNvSpPr>
          <p:nvPr>
            <p:ph type="title"/>
          </p:nvPr>
        </p:nvSpPr>
        <p:spPr/>
        <p:txBody>
          <a:bodyPr/>
          <a:lstStyle/>
          <a:p>
            <a:pPr algn="ctr"/>
            <a:r>
              <a:rPr lang="en-US" dirty="0"/>
              <a:t>Literature Survey</a:t>
            </a:r>
            <a:endParaRPr lang="en-IN" dirty="0"/>
          </a:p>
        </p:txBody>
      </p:sp>
      <p:graphicFrame>
        <p:nvGraphicFramePr>
          <p:cNvPr id="6" name="Content Placeholder 5">
            <a:extLst>
              <a:ext uri="{FF2B5EF4-FFF2-40B4-BE49-F238E27FC236}">
                <a16:creationId xmlns:a16="http://schemas.microsoft.com/office/drawing/2014/main" id="{DD91FF1A-DCEE-022C-3205-3B2CA6E51188}"/>
              </a:ext>
            </a:extLst>
          </p:cNvPr>
          <p:cNvGraphicFramePr>
            <a:graphicFrameLocks noGrp="1"/>
          </p:cNvGraphicFramePr>
          <p:nvPr>
            <p:ph idx="1"/>
            <p:extLst>
              <p:ext uri="{D42A27DB-BD31-4B8C-83A1-F6EECF244321}">
                <p14:modId xmlns:p14="http://schemas.microsoft.com/office/powerpoint/2010/main" val="82020253"/>
              </p:ext>
            </p:extLst>
          </p:nvPr>
        </p:nvGraphicFramePr>
        <p:xfrm>
          <a:off x="155510" y="1559444"/>
          <a:ext cx="11880980" cy="4236720"/>
        </p:xfrm>
        <a:graphic>
          <a:graphicData uri="http://schemas.openxmlformats.org/drawingml/2006/table">
            <a:tbl>
              <a:tblPr firstRow="1" bandRow="1">
                <a:tableStyleId>{5C22544A-7EE6-4342-B048-85BDC9FD1C3A}</a:tableStyleId>
              </a:tblPr>
              <a:tblGrid>
                <a:gridCol w="908180">
                  <a:extLst>
                    <a:ext uri="{9D8B030D-6E8A-4147-A177-3AD203B41FA5}">
                      <a16:colId xmlns:a16="http://schemas.microsoft.com/office/drawing/2014/main" val="430086233"/>
                    </a:ext>
                  </a:extLst>
                </a:gridCol>
                <a:gridCol w="3836748">
                  <a:extLst>
                    <a:ext uri="{9D8B030D-6E8A-4147-A177-3AD203B41FA5}">
                      <a16:colId xmlns:a16="http://schemas.microsoft.com/office/drawing/2014/main" val="2951369067"/>
                    </a:ext>
                  </a:extLst>
                </a:gridCol>
                <a:gridCol w="2378684">
                  <a:extLst>
                    <a:ext uri="{9D8B030D-6E8A-4147-A177-3AD203B41FA5}">
                      <a16:colId xmlns:a16="http://schemas.microsoft.com/office/drawing/2014/main" val="1343178721"/>
                    </a:ext>
                  </a:extLst>
                </a:gridCol>
                <a:gridCol w="2378684">
                  <a:extLst>
                    <a:ext uri="{9D8B030D-6E8A-4147-A177-3AD203B41FA5}">
                      <a16:colId xmlns:a16="http://schemas.microsoft.com/office/drawing/2014/main" val="4197752047"/>
                    </a:ext>
                  </a:extLst>
                </a:gridCol>
                <a:gridCol w="2378684">
                  <a:extLst>
                    <a:ext uri="{9D8B030D-6E8A-4147-A177-3AD203B41FA5}">
                      <a16:colId xmlns:a16="http://schemas.microsoft.com/office/drawing/2014/main" val="778912969"/>
                    </a:ext>
                  </a:extLst>
                </a:gridCol>
              </a:tblGrid>
              <a:tr h="0">
                <a:tc>
                  <a:txBody>
                    <a:bodyPr/>
                    <a:lstStyle/>
                    <a:p>
                      <a:pPr algn="ctr" fontAlgn="b">
                        <a:lnSpc>
                          <a:spcPts val="1200"/>
                        </a:lnSpc>
                        <a:buNone/>
                      </a:pPr>
                      <a:r>
                        <a:rPr lang="en-US" sz="1600" b="1" dirty="0">
                          <a:solidFill>
                            <a:srgbClr val="E8E6E3"/>
                          </a:solidFill>
                          <a:effectLst/>
                        </a:rPr>
                        <a:t>S. No</a:t>
                      </a:r>
                    </a:p>
                  </a:txBody>
                  <a:tcPr marR="114300" anchor="ctr"/>
                </a:tc>
                <a:tc>
                  <a:txBody>
                    <a:bodyPr/>
                    <a:lstStyle/>
                    <a:p>
                      <a:pPr algn="ctr"/>
                      <a:r>
                        <a:rPr lang="en-US" sz="1600" b="1" i="0" kern="1200" dirty="0">
                          <a:solidFill>
                            <a:schemeClr val="lt1"/>
                          </a:solidFill>
                          <a:effectLst/>
                          <a:latin typeface="+mn-lt"/>
                          <a:ea typeface="+mn-ea"/>
                          <a:cs typeface="+mn-cs"/>
                        </a:rPr>
                        <a:t>Title (Journal, Author, Year)</a:t>
                      </a:r>
                      <a:endParaRPr lang="en-US" sz="1600" dirty="0"/>
                    </a:p>
                  </a:txBody>
                  <a:tcPr anchor="ctr"/>
                </a:tc>
                <a:tc>
                  <a:txBody>
                    <a:bodyPr/>
                    <a:lstStyle/>
                    <a:p>
                      <a:pPr algn="ctr"/>
                      <a:r>
                        <a:rPr lang="en-US" sz="1600" b="1" i="0" kern="1200" dirty="0">
                          <a:solidFill>
                            <a:schemeClr val="lt1"/>
                          </a:solidFill>
                          <a:effectLst/>
                          <a:latin typeface="+mn-lt"/>
                          <a:ea typeface="+mn-ea"/>
                          <a:cs typeface="+mn-cs"/>
                        </a:rPr>
                        <a:t>Methodology (Summary)</a:t>
                      </a:r>
                      <a:endParaRPr lang="en-US" sz="1600" dirty="0"/>
                    </a:p>
                  </a:txBody>
                  <a:tcPr anchor="ctr"/>
                </a:tc>
                <a:tc>
                  <a:txBody>
                    <a:bodyPr/>
                    <a:lstStyle/>
                    <a:p>
                      <a:pPr algn="ctr"/>
                      <a:r>
                        <a:rPr lang="en-US" sz="1600" b="1" i="0" kern="1200" dirty="0">
                          <a:solidFill>
                            <a:schemeClr val="lt1"/>
                          </a:solidFill>
                          <a:effectLst/>
                          <a:latin typeface="+mn-lt"/>
                          <a:ea typeface="+mn-ea"/>
                          <a:cs typeface="+mn-cs"/>
                        </a:rPr>
                        <a:t>Identification of Gaps &amp; Limitations</a:t>
                      </a:r>
                      <a:endParaRPr lang="en-US" sz="1600" dirty="0"/>
                    </a:p>
                  </a:txBody>
                  <a:tcPr anchor="ctr"/>
                </a:tc>
                <a:tc>
                  <a:txBody>
                    <a:bodyPr/>
                    <a:lstStyle/>
                    <a:p>
                      <a:pPr algn="ctr"/>
                      <a:r>
                        <a:rPr lang="en-US" sz="1600" b="1" i="0" kern="1200" dirty="0">
                          <a:solidFill>
                            <a:schemeClr val="lt1"/>
                          </a:solidFill>
                          <a:effectLst/>
                          <a:latin typeface="+mn-lt"/>
                          <a:ea typeface="+mn-ea"/>
                          <a:cs typeface="+mn-cs"/>
                        </a:rPr>
                        <a:t>Result (Include relevant metrics)</a:t>
                      </a:r>
                      <a:endParaRPr lang="en-US" sz="1600" dirty="0"/>
                    </a:p>
                  </a:txBody>
                  <a:tcPr anchor="ctr"/>
                </a:tc>
                <a:extLst>
                  <a:ext uri="{0D108BD9-81ED-4DB2-BD59-A6C34878D82A}">
                    <a16:rowId xmlns:a16="http://schemas.microsoft.com/office/drawing/2014/main" val="2700302780"/>
                  </a:ext>
                </a:extLst>
              </a:tr>
              <a:tr h="731520">
                <a:tc>
                  <a:txBody>
                    <a:bodyPr/>
                    <a:lstStyle/>
                    <a:p>
                      <a:pPr algn="ctr"/>
                      <a:r>
                        <a:rPr lang="en-US" sz="1400" dirty="0"/>
                        <a:t>1</a:t>
                      </a:r>
                    </a:p>
                  </a:txBody>
                  <a:tcPr anchor="ctr"/>
                </a:tc>
                <a:tc>
                  <a:txBody>
                    <a:bodyPr/>
                    <a:lstStyle/>
                    <a:p>
                      <a:pPr algn="l"/>
                      <a:r>
                        <a:rPr lang="en-US" sz="1400" b="0" i="0" kern="1200" dirty="0">
                          <a:solidFill>
                            <a:schemeClr val="dk1"/>
                          </a:solidFill>
                          <a:effectLst/>
                          <a:latin typeface="+mn-lt"/>
                          <a:ea typeface="+mn-ea"/>
                          <a:cs typeface="+mn-cs"/>
                        </a:rPr>
                        <a:t>Kim, J. et al., 2021. </a:t>
                      </a:r>
                      <a:r>
                        <a:rPr lang="en-US" sz="1400" b="0" i="1" kern="1200" dirty="0">
                          <a:solidFill>
                            <a:schemeClr val="dk1"/>
                          </a:solidFill>
                          <a:effectLst/>
                          <a:latin typeface="+mn-lt"/>
                          <a:ea typeface="+mn-ea"/>
                          <a:cs typeface="+mn-cs"/>
                        </a:rPr>
                        <a:t>AI‑based fault detection in nuclear I&amp;C systems.</a:t>
                      </a:r>
                      <a:r>
                        <a:rPr lang="en-US" sz="1400" b="0" i="0" kern="1200" dirty="0">
                          <a:solidFill>
                            <a:schemeClr val="dk1"/>
                          </a:solidFill>
                          <a:effectLst/>
                          <a:latin typeface="+mn-lt"/>
                          <a:ea typeface="+mn-ea"/>
                          <a:cs typeface="+mn-cs"/>
                        </a:rPr>
                        <a:t> Annals of Nuclear Energy</a:t>
                      </a:r>
                      <a:endParaRPr lang="en-US" sz="1400" dirty="0"/>
                    </a:p>
                  </a:txBody>
                  <a:tcPr anchor="ctr"/>
                </a:tc>
                <a:tc>
                  <a:txBody>
                    <a:bodyPr/>
                    <a:lstStyle/>
                    <a:p>
                      <a:pPr algn="l"/>
                      <a:r>
                        <a:rPr lang="en-US" sz="1400" b="0" i="0" kern="1200" dirty="0">
                          <a:solidFill>
                            <a:schemeClr val="dk1"/>
                          </a:solidFill>
                          <a:effectLst/>
                          <a:latin typeface="+mn-lt"/>
                          <a:ea typeface="+mn-ea"/>
                          <a:cs typeface="+mn-cs"/>
                        </a:rPr>
                        <a:t>LSTM models for anomaly detection on reactor sensor time-series</a:t>
                      </a:r>
                      <a:endParaRPr lang="en-US" sz="1400" dirty="0"/>
                    </a:p>
                  </a:txBody>
                  <a:tcPr anchor="ctr"/>
                </a:tc>
                <a:tc>
                  <a:txBody>
                    <a:bodyPr/>
                    <a:lstStyle/>
                    <a:p>
                      <a:pPr algn="l"/>
                      <a:r>
                        <a:rPr lang="en-US" sz="1400" b="0" i="0" kern="1200" dirty="0">
                          <a:solidFill>
                            <a:schemeClr val="dk1"/>
                          </a:solidFill>
                          <a:effectLst/>
                          <a:latin typeface="+mn-lt"/>
                          <a:ea typeface="+mn-ea"/>
                          <a:cs typeface="+mn-cs"/>
                        </a:rPr>
                        <a:t>No explainability, single-plant focus</a:t>
                      </a:r>
                      <a:endParaRPr lang="en-US" sz="1400" dirty="0"/>
                    </a:p>
                  </a:txBody>
                  <a:tcPr anchor="ctr"/>
                </a:tc>
                <a:tc>
                  <a:txBody>
                    <a:bodyPr/>
                    <a:lstStyle/>
                    <a:p>
                      <a:pPr algn="l" fontAlgn="base">
                        <a:buNone/>
                      </a:pPr>
                      <a:r>
                        <a:rPr lang="en-US" sz="1400" dirty="0">
                          <a:effectLst/>
                        </a:rPr>
                        <a:t>Accuracy ≈ 96%</a:t>
                      </a:r>
                    </a:p>
                  </a:txBody>
                  <a:tcPr anchor="ctr"/>
                </a:tc>
                <a:extLst>
                  <a:ext uri="{0D108BD9-81ED-4DB2-BD59-A6C34878D82A}">
                    <a16:rowId xmlns:a16="http://schemas.microsoft.com/office/drawing/2014/main" val="130058451"/>
                  </a:ext>
                </a:extLst>
              </a:tr>
              <a:tr h="731520">
                <a:tc>
                  <a:txBody>
                    <a:bodyPr/>
                    <a:lstStyle/>
                    <a:p>
                      <a:pPr algn="ctr"/>
                      <a:r>
                        <a:rPr lang="en-US" sz="1400" dirty="0"/>
                        <a:t>2</a:t>
                      </a:r>
                    </a:p>
                  </a:txBody>
                  <a:tcPr anchor="ctr"/>
                </a:tc>
                <a:tc>
                  <a:txBody>
                    <a:bodyPr/>
                    <a:lstStyle/>
                    <a:p>
                      <a:pPr algn="l"/>
                      <a:r>
                        <a:rPr lang="en-US" sz="1400" b="0" i="0" kern="1200" dirty="0">
                          <a:solidFill>
                            <a:schemeClr val="dk1"/>
                          </a:solidFill>
                          <a:effectLst/>
                          <a:latin typeface="+mn-lt"/>
                          <a:ea typeface="+mn-ea"/>
                          <a:cs typeface="+mn-cs"/>
                        </a:rPr>
                        <a:t>Wang, H. et al., 2022. </a:t>
                      </a:r>
                      <a:r>
                        <a:rPr lang="en-US" sz="1400" b="0" i="1" kern="1200" dirty="0">
                          <a:solidFill>
                            <a:schemeClr val="dk1"/>
                          </a:solidFill>
                          <a:effectLst/>
                          <a:latin typeface="+mn-lt"/>
                          <a:ea typeface="+mn-ea"/>
                          <a:cs typeface="+mn-cs"/>
                        </a:rPr>
                        <a:t>Virtual sensor modelling for nuclear cooling loops.</a:t>
                      </a:r>
                      <a:r>
                        <a:rPr lang="en-US" sz="1400" b="0" i="0" kern="1200" dirty="0">
                          <a:solidFill>
                            <a:schemeClr val="dk1"/>
                          </a:solidFill>
                          <a:effectLst/>
                          <a:latin typeface="+mn-lt"/>
                          <a:ea typeface="+mn-ea"/>
                          <a:cs typeface="+mn-cs"/>
                        </a:rPr>
                        <a:t> Nuclear Engineering and Design</a:t>
                      </a:r>
                      <a:endParaRPr lang="en-US" sz="1400" dirty="0"/>
                    </a:p>
                  </a:txBody>
                  <a:tcPr anchor="ctr"/>
                </a:tc>
                <a:tc>
                  <a:txBody>
                    <a:bodyPr/>
                    <a:lstStyle/>
                    <a:p>
                      <a:pPr algn="l"/>
                      <a:r>
                        <a:rPr lang="en-US" sz="1400" b="0" i="0" kern="1200" dirty="0">
                          <a:solidFill>
                            <a:schemeClr val="dk1"/>
                          </a:solidFill>
                          <a:effectLst/>
                          <a:latin typeface="+mn-lt"/>
                          <a:ea typeface="+mn-ea"/>
                          <a:cs typeface="+mn-cs"/>
                        </a:rPr>
                        <a:t>ANN soft sensors to estimate coolant temperature</a:t>
                      </a:r>
                      <a:endParaRPr lang="en-US" sz="1400" dirty="0"/>
                    </a:p>
                  </a:txBody>
                  <a:tcPr anchor="ctr"/>
                </a:tc>
                <a:tc>
                  <a:txBody>
                    <a:bodyPr/>
                    <a:lstStyle/>
                    <a:p>
                      <a:pPr algn="l"/>
                      <a:r>
                        <a:rPr lang="en-US" sz="1400" b="0" i="0" kern="1200" dirty="0">
                          <a:solidFill>
                            <a:schemeClr val="dk1"/>
                          </a:solidFill>
                          <a:effectLst/>
                          <a:latin typeface="+mn-lt"/>
                          <a:ea typeface="+mn-ea"/>
                          <a:cs typeface="+mn-cs"/>
                        </a:rPr>
                        <a:t>No fault classification</a:t>
                      </a:r>
                      <a:endParaRPr lang="en-US" sz="1400" dirty="0"/>
                    </a:p>
                  </a:txBody>
                  <a:tcPr anchor="ctr"/>
                </a:tc>
                <a:tc>
                  <a:txBody>
                    <a:bodyPr/>
                    <a:lstStyle/>
                    <a:p>
                      <a:pPr algn="l" fontAlgn="base">
                        <a:buNone/>
                      </a:pPr>
                      <a:r>
                        <a:rPr lang="en-US" sz="1400" dirty="0">
                          <a:effectLst/>
                        </a:rPr>
                        <a:t>RMSE = 0.38</a:t>
                      </a:r>
                    </a:p>
                  </a:txBody>
                  <a:tcPr anchor="ctr"/>
                </a:tc>
                <a:extLst>
                  <a:ext uri="{0D108BD9-81ED-4DB2-BD59-A6C34878D82A}">
                    <a16:rowId xmlns:a16="http://schemas.microsoft.com/office/drawing/2014/main" val="2899122704"/>
                  </a:ext>
                </a:extLst>
              </a:tr>
              <a:tr h="731520">
                <a:tc>
                  <a:txBody>
                    <a:bodyPr/>
                    <a:lstStyle/>
                    <a:p>
                      <a:pPr algn="ctr"/>
                      <a:r>
                        <a:rPr lang="en-US" sz="1400" dirty="0"/>
                        <a:t>3</a:t>
                      </a:r>
                    </a:p>
                  </a:txBody>
                  <a:tcPr anchor="ctr"/>
                </a:tc>
                <a:tc>
                  <a:txBody>
                    <a:bodyPr/>
                    <a:lstStyle/>
                    <a:p>
                      <a:pPr algn="l" fontAlgn="base">
                        <a:buNone/>
                      </a:pPr>
                      <a:r>
                        <a:rPr lang="en-US" sz="1400" dirty="0">
                          <a:effectLst/>
                        </a:rPr>
                        <a:t>Li, Y. et al., 2020. </a:t>
                      </a:r>
                      <a:r>
                        <a:rPr lang="en-US" sz="1400" i="1" dirty="0">
                          <a:effectLst/>
                        </a:rPr>
                        <a:t>Residual-based FDD using digital twins.</a:t>
                      </a:r>
                      <a:r>
                        <a:rPr lang="en-US" sz="1400" dirty="0">
                          <a:effectLst/>
                        </a:rPr>
                        <a:t> Reliability Engineering &amp; System Safety</a:t>
                      </a:r>
                    </a:p>
                  </a:txBody>
                  <a:tcPr marR="114300" anchor="ctr"/>
                </a:tc>
                <a:tc>
                  <a:txBody>
                    <a:bodyPr/>
                    <a:lstStyle/>
                    <a:p>
                      <a:pPr algn="l"/>
                      <a:r>
                        <a:rPr lang="en-US" sz="1400" b="0" i="0" kern="1200" dirty="0">
                          <a:solidFill>
                            <a:schemeClr val="dk1"/>
                          </a:solidFill>
                          <a:effectLst/>
                          <a:latin typeface="+mn-lt"/>
                          <a:ea typeface="+mn-ea"/>
                          <a:cs typeface="+mn-cs"/>
                        </a:rPr>
                        <a:t>Physics digital twin + ML residual monitoring</a:t>
                      </a:r>
                      <a:endParaRPr lang="en-US" sz="1400" dirty="0"/>
                    </a:p>
                  </a:txBody>
                  <a:tcPr anchor="ctr"/>
                </a:tc>
                <a:tc>
                  <a:txBody>
                    <a:bodyPr/>
                    <a:lstStyle/>
                    <a:p>
                      <a:pPr algn="l" fontAlgn="base">
                        <a:buNone/>
                      </a:pPr>
                      <a:r>
                        <a:rPr lang="en-US" sz="1400" dirty="0">
                          <a:effectLst/>
                        </a:rPr>
                        <a:t>Limited fault types</a:t>
                      </a:r>
                    </a:p>
                  </a:txBody>
                  <a:tcPr marR="114300" anchor="ctr"/>
                </a:tc>
                <a:tc>
                  <a:txBody>
                    <a:bodyPr/>
                    <a:lstStyle/>
                    <a:p>
                      <a:pPr algn="l" fontAlgn="base">
                        <a:buNone/>
                      </a:pPr>
                      <a:r>
                        <a:rPr lang="en-US" sz="1400" dirty="0">
                          <a:effectLst/>
                        </a:rPr>
                        <a:t>FAR ≈ 3.1%</a:t>
                      </a:r>
                    </a:p>
                  </a:txBody>
                  <a:tcPr anchor="ctr"/>
                </a:tc>
                <a:extLst>
                  <a:ext uri="{0D108BD9-81ED-4DB2-BD59-A6C34878D82A}">
                    <a16:rowId xmlns:a16="http://schemas.microsoft.com/office/drawing/2014/main" val="1564370342"/>
                  </a:ext>
                </a:extLst>
              </a:tr>
              <a:tr h="731520">
                <a:tc>
                  <a:txBody>
                    <a:bodyPr/>
                    <a:lstStyle/>
                    <a:p>
                      <a:pPr algn="ctr"/>
                      <a:r>
                        <a:rPr lang="en-US" sz="1400" dirty="0"/>
                        <a:t>4</a:t>
                      </a:r>
                    </a:p>
                  </a:txBody>
                  <a:tcPr anchor="ctr"/>
                </a:tc>
                <a:tc>
                  <a:txBody>
                    <a:bodyPr/>
                    <a:lstStyle/>
                    <a:p>
                      <a:pPr algn="l" fontAlgn="base">
                        <a:buNone/>
                      </a:pPr>
                      <a:r>
                        <a:rPr lang="en-US" sz="1400" dirty="0">
                          <a:effectLst/>
                        </a:rPr>
                        <a:t>Zhao, Q. et al., 2023. </a:t>
                      </a:r>
                      <a:r>
                        <a:rPr lang="en-US" sz="1400" i="1" dirty="0">
                          <a:effectLst/>
                        </a:rPr>
                        <a:t>LSTM Autoencoder for sensor anomaly detection.</a:t>
                      </a:r>
                      <a:r>
                        <a:rPr lang="en-US" sz="1400" dirty="0">
                          <a:effectLst/>
                        </a:rPr>
                        <a:t> IEEE Access</a:t>
                      </a:r>
                    </a:p>
                  </a:txBody>
                  <a:tcPr marR="114300" anchor="ctr"/>
                </a:tc>
                <a:tc>
                  <a:txBody>
                    <a:bodyPr/>
                    <a:lstStyle/>
                    <a:p>
                      <a:pPr algn="l"/>
                      <a:r>
                        <a:rPr lang="en-US" sz="1400" b="0" i="0" kern="1200" dirty="0">
                          <a:solidFill>
                            <a:schemeClr val="dk1"/>
                          </a:solidFill>
                          <a:effectLst/>
                          <a:latin typeface="+mn-lt"/>
                          <a:ea typeface="+mn-ea"/>
                          <a:cs typeface="+mn-cs"/>
                        </a:rPr>
                        <a:t>Reconstruction error–based unsupervised detection</a:t>
                      </a:r>
                      <a:endParaRPr lang="en-US" sz="1400" dirty="0"/>
                    </a:p>
                  </a:txBody>
                  <a:tcPr anchor="ctr"/>
                </a:tc>
                <a:tc>
                  <a:txBody>
                    <a:bodyPr/>
                    <a:lstStyle/>
                    <a:p>
                      <a:pPr algn="l" fontAlgn="base">
                        <a:buNone/>
                      </a:pPr>
                      <a:r>
                        <a:rPr lang="en-US" sz="1400" dirty="0">
                          <a:effectLst/>
                        </a:rPr>
                        <a:t>No nuclear safety logic</a:t>
                      </a:r>
                    </a:p>
                  </a:txBody>
                  <a:tcPr marR="114300" anchor="ctr"/>
                </a:tc>
                <a:tc>
                  <a:txBody>
                    <a:bodyPr/>
                    <a:lstStyle/>
                    <a:p>
                      <a:pPr algn="l" fontAlgn="base">
                        <a:buNone/>
                      </a:pPr>
                      <a:r>
                        <a:rPr lang="en-US" sz="1400" dirty="0">
                          <a:effectLst/>
                        </a:rPr>
                        <a:t>F1 ≈ 0.93</a:t>
                      </a:r>
                    </a:p>
                  </a:txBody>
                  <a:tcPr anchor="ctr"/>
                </a:tc>
                <a:extLst>
                  <a:ext uri="{0D108BD9-81ED-4DB2-BD59-A6C34878D82A}">
                    <a16:rowId xmlns:a16="http://schemas.microsoft.com/office/drawing/2014/main" val="1460227648"/>
                  </a:ext>
                </a:extLst>
              </a:tr>
              <a:tr h="731520">
                <a:tc>
                  <a:txBody>
                    <a:bodyPr/>
                    <a:lstStyle/>
                    <a:p>
                      <a:pPr algn="ctr"/>
                      <a:r>
                        <a:rPr lang="en-US" sz="1400" dirty="0"/>
                        <a:t>5</a:t>
                      </a:r>
                    </a:p>
                  </a:txBody>
                  <a:tcPr anchor="ctr"/>
                </a:tc>
                <a:tc>
                  <a:txBody>
                    <a:bodyPr/>
                    <a:lstStyle/>
                    <a:p>
                      <a:pPr algn="l" fontAlgn="base">
                        <a:buNone/>
                      </a:pPr>
                      <a:r>
                        <a:rPr lang="en-US" sz="1400" dirty="0">
                          <a:effectLst/>
                        </a:rPr>
                        <a:t>Sun, M. et al., 2021. </a:t>
                      </a:r>
                      <a:r>
                        <a:rPr lang="en-US" sz="1400" i="1" dirty="0">
                          <a:effectLst/>
                        </a:rPr>
                        <a:t>Hybrid digital twin + AI FDD.</a:t>
                      </a:r>
                      <a:r>
                        <a:rPr lang="en-US" sz="1400" dirty="0">
                          <a:effectLst/>
                        </a:rPr>
                        <a:t> Energy AI</a:t>
                      </a:r>
                    </a:p>
                  </a:txBody>
                  <a:tcPr marR="114300" anchor="ctr"/>
                </a:tc>
                <a:tc>
                  <a:txBody>
                    <a:bodyPr/>
                    <a:lstStyle/>
                    <a:p>
                      <a:pPr algn="l"/>
                      <a:r>
                        <a:rPr lang="en-US" sz="1400" b="0" i="0" kern="1200" dirty="0">
                          <a:solidFill>
                            <a:schemeClr val="dk1"/>
                          </a:solidFill>
                          <a:effectLst/>
                          <a:latin typeface="+mn-lt"/>
                          <a:ea typeface="+mn-ea"/>
                          <a:cs typeface="+mn-cs"/>
                        </a:rPr>
                        <a:t>Simulink cooling loop + NN correction</a:t>
                      </a:r>
                      <a:endParaRPr lang="en-US" sz="1400" dirty="0"/>
                    </a:p>
                  </a:txBody>
                  <a:tcPr anchor="ctr"/>
                </a:tc>
                <a:tc>
                  <a:txBody>
                    <a:bodyPr/>
                    <a:lstStyle/>
                    <a:p>
                      <a:pPr algn="l" fontAlgn="base">
                        <a:buNone/>
                      </a:pPr>
                      <a:r>
                        <a:rPr lang="en-US" sz="1400" dirty="0">
                          <a:effectLst/>
                        </a:rPr>
                        <a:t>No explainable module</a:t>
                      </a:r>
                    </a:p>
                  </a:txBody>
                  <a:tcPr marR="114300" anchor="ctr"/>
                </a:tc>
                <a:tc>
                  <a:txBody>
                    <a:bodyPr/>
                    <a:lstStyle/>
                    <a:p>
                      <a:pPr algn="l" fontAlgn="base">
                        <a:buNone/>
                      </a:pPr>
                      <a:r>
                        <a:rPr lang="en-US" sz="1400" dirty="0">
                          <a:effectLst/>
                        </a:rPr>
                        <a:t>Detection delay ≈ 4 s</a:t>
                      </a:r>
                    </a:p>
                  </a:txBody>
                  <a:tcPr anchor="ctr"/>
                </a:tc>
                <a:extLst>
                  <a:ext uri="{0D108BD9-81ED-4DB2-BD59-A6C34878D82A}">
                    <a16:rowId xmlns:a16="http://schemas.microsoft.com/office/drawing/2014/main" val="4112738428"/>
                  </a:ext>
                </a:extLst>
              </a:tr>
            </a:tbl>
          </a:graphicData>
        </a:graphic>
      </p:graphicFrame>
    </p:spTree>
    <p:extLst>
      <p:ext uri="{BB962C8B-B14F-4D97-AF65-F5344CB8AC3E}">
        <p14:creationId xmlns:p14="http://schemas.microsoft.com/office/powerpoint/2010/main" val="2187422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77148-AE82-B3E3-C777-99E63CF43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B3852-5CC8-587E-8A41-73862CB31160}"/>
              </a:ext>
            </a:extLst>
          </p:cNvPr>
          <p:cNvSpPr>
            <a:spLocks noGrp="1"/>
          </p:cNvSpPr>
          <p:nvPr>
            <p:ph type="title"/>
          </p:nvPr>
        </p:nvSpPr>
        <p:spPr/>
        <p:txBody>
          <a:bodyPr/>
          <a:lstStyle/>
          <a:p>
            <a:pPr algn="ctr"/>
            <a:r>
              <a:rPr lang="en-US" dirty="0"/>
              <a:t>Literature Survey</a:t>
            </a:r>
            <a:endParaRPr lang="en-IN" dirty="0"/>
          </a:p>
        </p:txBody>
      </p:sp>
      <p:graphicFrame>
        <p:nvGraphicFramePr>
          <p:cNvPr id="6" name="Content Placeholder 5">
            <a:extLst>
              <a:ext uri="{FF2B5EF4-FFF2-40B4-BE49-F238E27FC236}">
                <a16:creationId xmlns:a16="http://schemas.microsoft.com/office/drawing/2014/main" id="{C40098E9-2FA4-8C6D-51AB-AB26412B6CBB}"/>
              </a:ext>
            </a:extLst>
          </p:cNvPr>
          <p:cNvGraphicFramePr>
            <a:graphicFrameLocks noGrp="1"/>
          </p:cNvGraphicFramePr>
          <p:nvPr>
            <p:ph idx="1"/>
            <p:extLst>
              <p:ext uri="{D42A27DB-BD31-4B8C-83A1-F6EECF244321}">
                <p14:modId xmlns:p14="http://schemas.microsoft.com/office/powerpoint/2010/main" val="1496857540"/>
              </p:ext>
            </p:extLst>
          </p:nvPr>
        </p:nvGraphicFramePr>
        <p:xfrm>
          <a:off x="155510" y="1559444"/>
          <a:ext cx="11880980" cy="4450080"/>
        </p:xfrm>
        <a:graphic>
          <a:graphicData uri="http://schemas.openxmlformats.org/drawingml/2006/table">
            <a:tbl>
              <a:tblPr firstRow="1" bandRow="1">
                <a:tableStyleId>{5C22544A-7EE6-4342-B048-85BDC9FD1C3A}</a:tableStyleId>
              </a:tblPr>
              <a:tblGrid>
                <a:gridCol w="908180">
                  <a:extLst>
                    <a:ext uri="{9D8B030D-6E8A-4147-A177-3AD203B41FA5}">
                      <a16:colId xmlns:a16="http://schemas.microsoft.com/office/drawing/2014/main" val="430086233"/>
                    </a:ext>
                  </a:extLst>
                </a:gridCol>
                <a:gridCol w="3836748">
                  <a:extLst>
                    <a:ext uri="{9D8B030D-6E8A-4147-A177-3AD203B41FA5}">
                      <a16:colId xmlns:a16="http://schemas.microsoft.com/office/drawing/2014/main" val="2951369067"/>
                    </a:ext>
                  </a:extLst>
                </a:gridCol>
                <a:gridCol w="2378684">
                  <a:extLst>
                    <a:ext uri="{9D8B030D-6E8A-4147-A177-3AD203B41FA5}">
                      <a16:colId xmlns:a16="http://schemas.microsoft.com/office/drawing/2014/main" val="1343178721"/>
                    </a:ext>
                  </a:extLst>
                </a:gridCol>
                <a:gridCol w="2378684">
                  <a:extLst>
                    <a:ext uri="{9D8B030D-6E8A-4147-A177-3AD203B41FA5}">
                      <a16:colId xmlns:a16="http://schemas.microsoft.com/office/drawing/2014/main" val="4197752047"/>
                    </a:ext>
                  </a:extLst>
                </a:gridCol>
                <a:gridCol w="2378684">
                  <a:extLst>
                    <a:ext uri="{9D8B030D-6E8A-4147-A177-3AD203B41FA5}">
                      <a16:colId xmlns:a16="http://schemas.microsoft.com/office/drawing/2014/main" val="778912969"/>
                    </a:ext>
                  </a:extLst>
                </a:gridCol>
              </a:tblGrid>
              <a:tr h="576072">
                <a:tc>
                  <a:txBody>
                    <a:bodyPr/>
                    <a:lstStyle/>
                    <a:p>
                      <a:pPr algn="ctr" fontAlgn="b">
                        <a:lnSpc>
                          <a:spcPts val="1200"/>
                        </a:lnSpc>
                        <a:buNone/>
                      </a:pPr>
                      <a:r>
                        <a:rPr lang="en-US" sz="1600" b="1" dirty="0">
                          <a:solidFill>
                            <a:srgbClr val="E8E6E3"/>
                          </a:solidFill>
                          <a:effectLst/>
                        </a:rPr>
                        <a:t>S. No</a:t>
                      </a:r>
                    </a:p>
                  </a:txBody>
                  <a:tcPr marR="114300" anchor="ctr"/>
                </a:tc>
                <a:tc>
                  <a:txBody>
                    <a:bodyPr/>
                    <a:lstStyle/>
                    <a:p>
                      <a:pPr algn="ctr"/>
                      <a:r>
                        <a:rPr lang="en-US" sz="1600" b="1" i="0" kern="1200" dirty="0">
                          <a:solidFill>
                            <a:schemeClr val="lt1"/>
                          </a:solidFill>
                          <a:effectLst/>
                          <a:latin typeface="+mn-lt"/>
                          <a:ea typeface="+mn-ea"/>
                          <a:cs typeface="+mn-cs"/>
                        </a:rPr>
                        <a:t>Title (Journal, Author, Year)</a:t>
                      </a:r>
                      <a:endParaRPr lang="en-US" sz="1600" dirty="0"/>
                    </a:p>
                  </a:txBody>
                  <a:tcPr anchor="ctr"/>
                </a:tc>
                <a:tc>
                  <a:txBody>
                    <a:bodyPr/>
                    <a:lstStyle/>
                    <a:p>
                      <a:pPr algn="ctr"/>
                      <a:r>
                        <a:rPr lang="en-US" sz="1600" b="1" i="0" kern="1200" dirty="0">
                          <a:solidFill>
                            <a:schemeClr val="lt1"/>
                          </a:solidFill>
                          <a:effectLst/>
                          <a:latin typeface="+mn-lt"/>
                          <a:ea typeface="+mn-ea"/>
                          <a:cs typeface="+mn-cs"/>
                        </a:rPr>
                        <a:t>Methodology (Summary)</a:t>
                      </a:r>
                      <a:endParaRPr lang="en-US" sz="1600" dirty="0"/>
                    </a:p>
                  </a:txBody>
                  <a:tcPr anchor="ctr"/>
                </a:tc>
                <a:tc>
                  <a:txBody>
                    <a:bodyPr/>
                    <a:lstStyle/>
                    <a:p>
                      <a:pPr algn="ctr"/>
                      <a:r>
                        <a:rPr lang="en-US" sz="1600" b="1" i="0" kern="1200" dirty="0">
                          <a:solidFill>
                            <a:schemeClr val="lt1"/>
                          </a:solidFill>
                          <a:effectLst/>
                          <a:latin typeface="+mn-lt"/>
                          <a:ea typeface="+mn-ea"/>
                          <a:cs typeface="+mn-cs"/>
                        </a:rPr>
                        <a:t>Identification of Gaps &amp; Limitations</a:t>
                      </a:r>
                      <a:endParaRPr lang="en-US" sz="1600" dirty="0"/>
                    </a:p>
                  </a:txBody>
                  <a:tcPr anchor="ctr"/>
                </a:tc>
                <a:tc>
                  <a:txBody>
                    <a:bodyPr/>
                    <a:lstStyle/>
                    <a:p>
                      <a:pPr algn="ctr"/>
                      <a:r>
                        <a:rPr lang="en-US" sz="1600" b="1" i="0" kern="1200" dirty="0">
                          <a:solidFill>
                            <a:schemeClr val="lt1"/>
                          </a:solidFill>
                          <a:effectLst/>
                          <a:latin typeface="+mn-lt"/>
                          <a:ea typeface="+mn-ea"/>
                          <a:cs typeface="+mn-cs"/>
                        </a:rPr>
                        <a:t>Result (Include relevant metrics)</a:t>
                      </a:r>
                      <a:endParaRPr lang="en-US" sz="1600" dirty="0"/>
                    </a:p>
                  </a:txBody>
                  <a:tcPr anchor="ctr"/>
                </a:tc>
                <a:extLst>
                  <a:ext uri="{0D108BD9-81ED-4DB2-BD59-A6C34878D82A}">
                    <a16:rowId xmlns:a16="http://schemas.microsoft.com/office/drawing/2014/main" val="2700302780"/>
                  </a:ext>
                </a:extLst>
              </a:tr>
              <a:tr h="731520">
                <a:tc>
                  <a:txBody>
                    <a:bodyPr/>
                    <a:lstStyle/>
                    <a:p>
                      <a:pPr algn="ctr"/>
                      <a:r>
                        <a:rPr lang="en-US" sz="1400" dirty="0"/>
                        <a:t>6</a:t>
                      </a:r>
                    </a:p>
                  </a:txBody>
                  <a:tcPr anchor="ctr"/>
                </a:tc>
                <a:tc>
                  <a:txBody>
                    <a:bodyPr/>
                    <a:lstStyle/>
                    <a:p>
                      <a:pPr algn="l" fontAlgn="base">
                        <a:buNone/>
                      </a:pPr>
                      <a:r>
                        <a:rPr lang="en-US" sz="1400" dirty="0">
                          <a:effectLst/>
                        </a:rPr>
                        <a:t>Chen, T. et al., 2022. </a:t>
                      </a:r>
                      <a:r>
                        <a:rPr lang="en-US" sz="1400" i="1" dirty="0">
                          <a:effectLst/>
                        </a:rPr>
                        <a:t>Sensor health monitoring in reactors.</a:t>
                      </a:r>
                      <a:r>
                        <a:rPr lang="en-US" sz="1400" dirty="0">
                          <a:effectLst/>
                        </a:rPr>
                        <a:t> Progress in Nuclear Energy</a:t>
                      </a:r>
                    </a:p>
                  </a:txBody>
                  <a:tcPr marR="114300" anchor="ctr"/>
                </a:tc>
                <a:tc>
                  <a:txBody>
                    <a:bodyPr/>
                    <a:lstStyle/>
                    <a:p>
                      <a:pPr algn="l" fontAlgn="base">
                        <a:buNone/>
                      </a:pPr>
                      <a:r>
                        <a:rPr lang="en-US" sz="1400" dirty="0">
                          <a:effectLst/>
                        </a:rPr>
                        <a:t>Statistical residual + ML classifier</a:t>
                      </a:r>
                    </a:p>
                  </a:txBody>
                  <a:tcPr marR="114300" anchor="ctr"/>
                </a:tc>
                <a:tc>
                  <a:txBody>
                    <a:bodyPr/>
                    <a:lstStyle/>
                    <a:p>
                      <a:pPr algn="l" fontAlgn="base">
                        <a:buNone/>
                      </a:pPr>
                      <a:r>
                        <a:rPr lang="en-US" sz="1400" dirty="0">
                          <a:effectLst/>
                        </a:rPr>
                        <a:t>No severity estimation</a:t>
                      </a:r>
                    </a:p>
                  </a:txBody>
                  <a:tcPr marR="114300" anchor="ctr"/>
                </a:tc>
                <a:tc>
                  <a:txBody>
                    <a:bodyPr/>
                    <a:lstStyle/>
                    <a:p>
                      <a:pPr algn="l" fontAlgn="base">
                        <a:buNone/>
                      </a:pPr>
                      <a:r>
                        <a:rPr lang="en-US" sz="1400" dirty="0">
                          <a:effectLst/>
                        </a:rPr>
                        <a:t>Accuracy ≈ 94%</a:t>
                      </a:r>
                    </a:p>
                  </a:txBody>
                  <a:tcPr anchor="ctr"/>
                </a:tc>
                <a:extLst>
                  <a:ext uri="{0D108BD9-81ED-4DB2-BD59-A6C34878D82A}">
                    <a16:rowId xmlns:a16="http://schemas.microsoft.com/office/drawing/2014/main" val="130058451"/>
                  </a:ext>
                </a:extLst>
              </a:tr>
              <a:tr h="731520">
                <a:tc>
                  <a:txBody>
                    <a:bodyPr/>
                    <a:lstStyle/>
                    <a:p>
                      <a:pPr algn="ctr"/>
                      <a:r>
                        <a:rPr lang="en-US" sz="1400" dirty="0"/>
                        <a:t>7</a:t>
                      </a:r>
                    </a:p>
                  </a:txBody>
                  <a:tcPr anchor="ctr"/>
                </a:tc>
                <a:tc>
                  <a:txBody>
                    <a:bodyPr/>
                    <a:lstStyle/>
                    <a:p>
                      <a:pPr algn="l" fontAlgn="base">
                        <a:buNone/>
                      </a:pPr>
                      <a:r>
                        <a:rPr lang="en-US" sz="1400" dirty="0">
                          <a:effectLst/>
                        </a:rPr>
                        <a:t>Patel, R. et al., 2023. </a:t>
                      </a:r>
                      <a:r>
                        <a:rPr lang="en-US" sz="1400" i="1" dirty="0">
                          <a:effectLst/>
                        </a:rPr>
                        <a:t>Explainable AI for industrial safety.</a:t>
                      </a:r>
                      <a:r>
                        <a:rPr lang="en-US" sz="1400" dirty="0">
                          <a:effectLst/>
                        </a:rPr>
                        <a:t> Eng. Applications of AI</a:t>
                      </a:r>
                    </a:p>
                  </a:txBody>
                  <a:tcPr marR="114300" anchor="ctr"/>
                </a:tc>
                <a:tc>
                  <a:txBody>
                    <a:bodyPr/>
                    <a:lstStyle/>
                    <a:p>
                      <a:pPr algn="l" fontAlgn="base">
                        <a:buNone/>
                      </a:pPr>
                      <a:r>
                        <a:rPr lang="en-US" sz="1400" dirty="0">
                          <a:effectLst/>
                        </a:rPr>
                        <a:t>SHAP + ensemble classifier</a:t>
                      </a:r>
                    </a:p>
                  </a:txBody>
                  <a:tcPr marR="114300" anchor="ctr"/>
                </a:tc>
                <a:tc>
                  <a:txBody>
                    <a:bodyPr/>
                    <a:lstStyle/>
                    <a:p>
                      <a:pPr algn="l" fontAlgn="base">
                        <a:buNone/>
                      </a:pPr>
                      <a:r>
                        <a:rPr lang="en-US" sz="1400" dirty="0">
                          <a:effectLst/>
                        </a:rPr>
                        <a:t>Not nuclear‑tested</a:t>
                      </a:r>
                    </a:p>
                  </a:txBody>
                  <a:tcPr marR="114300" anchor="ctr"/>
                </a:tc>
                <a:tc>
                  <a:txBody>
                    <a:bodyPr/>
                    <a:lstStyle/>
                    <a:p>
                      <a:pPr algn="l" fontAlgn="base">
                        <a:buNone/>
                      </a:pPr>
                      <a:r>
                        <a:rPr lang="en-US" sz="1400" dirty="0">
                          <a:effectLst/>
                        </a:rPr>
                        <a:t>Precision ≈ 92%</a:t>
                      </a:r>
                    </a:p>
                  </a:txBody>
                  <a:tcPr anchor="ctr"/>
                </a:tc>
                <a:extLst>
                  <a:ext uri="{0D108BD9-81ED-4DB2-BD59-A6C34878D82A}">
                    <a16:rowId xmlns:a16="http://schemas.microsoft.com/office/drawing/2014/main" val="2899122704"/>
                  </a:ext>
                </a:extLst>
              </a:tr>
              <a:tr h="731520">
                <a:tc>
                  <a:txBody>
                    <a:bodyPr/>
                    <a:lstStyle/>
                    <a:p>
                      <a:pPr algn="ctr"/>
                      <a:r>
                        <a:rPr lang="en-US" sz="1400" dirty="0"/>
                        <a:t>8</a:t>
                      </a:r>
                    </a:p>
                  </a:txBody>
                  <a:tcPr anchor="ctr"/>
                </a:tc>
                <a:tc>
                  <a:txBody>
                    <a:bodyPr/>
                    <a:lstStyle/>
                    <a:p>
                      <a:pPr algn="l" fontAlgn="base">
                        <a:buNone/>
                      </a:pPr>
                      <a:r>
                        <a:rPr lang="en-US" sz="1400" dirty="0">
                          <a:effectLst/>
                        </a:rPr>
                        <a:t>Ahmed, S. et al., 2020. </a:t>
                      </a:r>
                      <a:r>
                        <a:rPr lang="en-US" sz="1400" i="1" dirty="0">
                          <a:effectLst/>
                        </a:rPr>
                        <a:t>Fault diagnosis using </a:t>
                      </a:r>
                      <a:r>
                        <a:rPr lang="en-US" sz="1400" i="1" dirty="0" err="1">
                          <a:effectLst/>
                        </a:rPr>
                        <a:t>XGBoost</a:t>
                      </a:r>
                      <a:r>
                        <a:rPr lang="en-US" sz="1400" i="1" dirty="0">
                          <a:effectLst/>
                        </a:rPr>
                        <a:t>.</a:t>
                      </a:r>
                      <a:r>
                        <a:rPr lang="en-US" sz="1400" dirty="0">
                          <a:effectLst/>
                        </a:rPr>
                        <a:t> ISA Transactions</a:t>
                      </a:r>
                    </a:p>
                  </a:txBody>
                  <a:tcPr marR="114300" anchor="ctr"/>
                </a:tc>
                <a:tc>
                  <a:txBody>
                    <a:bodyPr/>
                    <a:lstStyle/>
                    <a:p>
                      <a:pPr algn="l" fontAlgn="base">
                        <a:buNone/>
                      </a:pPr>
                      <a:r>
                        <a:rPr lang="en-US" sz="1400" dirty="0">
                          <a:effectLst/>
                        </a:rPr>
                        <a:t>Residual features + tree models</a:t>
                      </a:r>
                    </a:p>
                  </a:txBody>
                  <a:tcPr marR="114300" anchor="ctr"/>
                </a:tc>
                <a:tc>
                  <a:txBody>
                    <a:bodyPr/>
                    <a:lstStyle/>
                    <a:p>
                      <a:pPr algn="l" fontAlgn="base">
                        <a:buNone/>
                      </a:pPr>
                      <a:r>
                        <a:rPr lang="en-US" sz="1400" dirty="0">
                          <a:effectLst/>
                        </a:rPr>
                        <a:t>No temporal learning</a:t>
                      </a:r>
                    </a:p>
                  </a:txBody>
                  <a:tcPr marR="114300" anchor="ctr"/>
                </a:tc>
                <a:tc>
                  <a:txBody>
                    <a:bodyPr/>
                    <a:lstStyle/>
                    <a:p>
                      <a:pPr algn="l" fontAlgn="base">
                        <a:buNone/>
                      </a:pPr>
                      <a:r>
                        <a:rPr lang="en-US" sz="1400" dirty="0">
                          <a:effectLst/>
                        </a:rPr>
                        <a:t>F1 ≈ 0.91</a:t>
                      </a:r>
                    </a:p>
                  </a:txBody>
                  <a:tcPr anchor="ctr"/>
                </a:tc>
                <a:extLst>
                  <a:ext uri="{0D108BD9-81ED-4DB2-BD59-A6C34878D82A}">
                    <a16:rowId xmlns:a16="http://schemas.microsoft.com/office/drawing/2014/main" val="1564370342"/>
                  </a:ext>
                </a:extLst>
              </a:tr>
              <a:tr h="731520">
                <a:tc>
                  <a:txBody>
                    <a:bodyPr/>
                    <a:lstStyle/>
                    <a:p>
                      <a:pPr algn="ctr"/>
                      <a:r>
                        <a:rPr lang="en-US" sz="1400" dirty="0"/>
                        <a:t>9</a:t>
                      </a:r>
                    </a:p>
                  </a:txBody>
                  <a:tcPr anchor="ctr"/>
                </a:tc>
                <a:tc>
                  <a:txBody>
                    <a:bodyPr/>
                    <a:lstStyle/>
                    <a:p>
                      <a:pPr algn="l" fontAlgn="base">
                        <a:buNone/>
                      </a:pPr>
                      <a:r>
                        <a:rPr lang="en-US" sz="1400" dirty="0">
                          <a:effectLst/>
                        </a:rPr>
                        <a:t>Zhang, P. et al., 2022. </a:t>
                      </a:r>
                      <a:r>
                        <a:rPr lang="en-US" sz="1400" i="1" dirty="0">
                          <a:effectLst/>
                        </a:rPr>
                        <a:t>LSTM for nuclear transient monitoring.</a:t>
                      </a:r>
                      <a:r>
                        <a:rPr lang="en-US" sz="1400" dirty="0">
                          <a:effectLst/>
                        </a:rPr>
                        <a:t> Nuclear Science &amp; Engineering</a:t>
                      </a:r>
                    </a:p>
                  </a:txBody>
                  <a:tcPr marR="114300" anchor="ctr"/>
                </a:tc>
                <a:tc>
                  <a:txBody>
                    <a:bodyPr/>
                    <a:lstStyle/>
                    <a:p>
                      <a:pPr algn="l" fontAlgn="base">
                        <a:buNone/>
                      </a:pPr>
                      <a:r>
                        <a:rPr lang="en-US" sz="1400" dirty="0">
                          <a:effectLst/>
                        </a:rPr>
                        <a:t>Sequence learning for drift/transients</a:t>
                      </a:r>
                    </a:p>
                  </a:txBody>
                  <a:tcPr marR="114300" anchor="ctr"/>
                </a:tc>
                <a:tc>
                  <a:txBody>
                    <a:bodyPr/>
                    <a:lstStyle/>
                    <a:p>
                      <a:pPr algn="l" fontAlgn="base">
                        <a:buNone/>
                      </a:pPr>
                      <a:r>
                        <a:rPr lang="en-US" sz="1400" dirty="0">
                          <a:effectLst/>
                        </a:rPr>
                        <a:t>No benchmark validation</a:t>
                      </a:r>
                    </a:p>
                  </a:txBody>
                  <a:tcPr marR="114300" anchor="ctr"/>
                </a:tc>
                <a:tc>
                  <a:txBody>
                    <a:bodyPr/>
                    <a:lstStyle/>
                    <a:p>
                      <a:pPr algn="l" fontAlgn="base">
                        <a:buNone/>
                      </a:pPr>
                      <a:r>
                        <a:rPr lang="en-US" sz="1400" dirty="0">
                          <a:effectLst/>
                        </a:rPr>
                        <a:t>RMSE ≈ 0.41</a:t>
                      </a:r>
                    </a:p>
                  </a:txBody>
                  <a:tcPr anchor="ctr"/>
                </a:tc>
                <a:extLst>
                  <a:ext uri="{0D108BD9-81ED-4DB2-BD59-A6C34878D82A}">
                    <a16:rowId xmlns:a16="http://schemas.microsoft.com/office/drawing/2014/main" val="1460227648"/>
                  </a:ext>
                </a:extLst>
              </a:tr>
              <a:tr h="731520">
                <a:tc>
                  <a:txBody>
                    <a:bodyPr/>
                    <a:lstStyle/>
                    <a:p>
                      <a:pPr algn="ctr"/>
                      <a:r>
                        <a:rPr lang="en-US" sz="1400" dirty="0"/>
                        <a:t>10</a:t>
                      </a:r>
                    </a:p>
                  </a:txBody>
                  <a:tcPr anchor="ctr"/>
                </a:tc>
                <a:tc>
                  <a:txBody>
                    <a:bodyPr/>
                    <a:lstStyle/>
                    <a:p>
                      <a:pPr algn="l" fontAlgn="base">
                        <a:buNone/>
                      </a:pPr>
                      <a:r>
                        <a:rPr lang="en-US" sz="1400" b="0" dirty="0"/>
                        <a:t>Bonsu, J.O. &amp; Adeoye, M.B., 2025. “AI‑Driven Fault Detection and Diagnostics in Nuclear Power Plant Control Systems: A Review.” </a:t>
                      </a:r>
                      <a:r>
                        <a:rPr lang="en-US" sz="1400" b="0" dirty="0" err="1"/>
                        <a:t>Sarcouncil</a:t>
                      </a:r>
                      <a:r>
                        <a:rPr lang="en-US" sz="1400" b="0" dirty="0"/>
                        <a:t> J. Eng. &amp; CS</a:t>
                      </a:r>
                      <a:endParaRPr lang="en-US" sz="1400" b="0" dirty="0">
                        <a:effectLst/>
                      </a:endParaRPr>
                    </a:p>
                  </a:txBody>
                  <a:tcPr marR="114300" anchor="ctr"/>
                </a:tc>
                <a:tc>
                  <a:txBody>
                    <a:bodyPr/>
                    <a:lstStyle/>
                    <a:p>
                      <a:pPr algn="l" fontAlgn="base">
                        <a:buNone/>
                      </a:pPr>
                      <a:r>
                        <a:rPr lang="en-US" sz="1400" dirty="0">
                          <a:effectLst/>
                        </a:rPr>
                        <a:t>Review of SVM, CNN, LSTM, AE, hybrid digital twins for nuclear FDD</a:t>
                      </a:r>
                    </a:p>
                  </a:txBody>
                  <a:tcPr marR="114300" marB="114300" anchor="ctr"/>
                </a:tc>
                <a:tc>
                  <a:txBody>
                    <a:bodyPr/>
                    <a:lstStyle/>
                    <a:p>
                      <a:pPr algn="l" fontAlgn="base">
                        <a:buNone/>
                      </a:pPr>
                      <a:r>
                        <a:rPr lang="en-US" sz="1400" dirty="0">
                          <a:effectLst/>
                        </a:rPr>
                        <a:t>Data scarcity, black‑box AI, lack of XAI, cybersecurity risk</a:t>
                      </a:r>
                    </a:p>
                  </a:txBody>
                  <a:tcPr marR="114300" marB="114300" anchor="ctr"/>
                </a:tc>
                <a:tc>
                  <a:txBody>
                    <a:bodyPr/>
                    <a:lstStyle/>
                    <a:p>
                      <a:pPr algn="l" fontAlgn="base">
                        <a:buNone/>
                      </a:pPr>
                      <a:r>
                        <a:rPr lang="en-US" sz="1400" dirty="0">
                          <a:effectLst/>
                        </a:rPr>
                        <a:t>Review paper – shows AI improves early fault detection &amp; reliability</a:t>
                      </a:r>
                    </a:p>
                  </a:txBody>
                  <a:tcPr marB="114300" anchor="ctr"/>
                </a:tc>
                <a:extLst>
                  <a:ext uri="{0D108BD9-81ED-4DB2-BD59-A6C34878D82A}">
                    <a16:rowId xmlns:a16="http://schemas.microsoft.com/office/drawing/2014/main" val="4112738428"/>
                  </a:ext>
                </a:extLst>
              </a:tr>
            </a:tbl>
          </a:graphicData>
        </a:graphic>
      </p:graphicFrame>
    </p:spTree>
    <p:extLst>
      <p:ext uri="{BB962C8B-B14F-4D97-AF65-F5344CB8AC3E}">
        <p14:creationId xmlns:p14="http://schemas.microsoft.com/office/powerpoint/2010/main" val="1413674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B0EA2-ABA8-3C72-A722-24B5F05DE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23818-315D-A2A4-186C-8235C54B3B0F}"/>
              </a:ext>
            </a:extLst>
          </p:cNvPr>
          <p:cNvSpPr>
            <a:spLocks noGrp="1"/>
          </p:cNvSpPr>
          <p:nvPr>
            <p:ph type="title"/>
          </p:nvPr>
        </p:nvSpPr>
        <p:spPr/>
        <p:txBody>
          <a:bodyPr/>
          <a:lstStyle/>
          <a:p>
            <a:pPr algn="ctr"/>
            <a:r>
              <a:rPr lang="en-US" dirty="0"/>
              <a:t>Research Gaps</a:t>
            </a:r>
            <a:endParaRPr lang="en-IN" dirty="0"/>
          </a:p>
        </p:txBody>
      </p:sp>
      <p:sp>
        <p:nvSpPr>
          <p:cNvPr id="3" name="Content Placeholder 2">
            <a:extLst>
              <a:ext uri="{FF2B5EF4-FFF2-40B4-BE49-F238E27FC236}">
                <a16:creationId xmlns:a16="http://schemas.microsoft.com/office/drawing/2014/main" id="{71D84A08-4931-6AE0-57E0-8D353C0EBE27}"/>
              </a:ext>
            </a:extLst>
          </p:cNvPr>
          <p:cNvSpPr>
            <a:spLocks noGrp="1"/>
          </p:cNvSpPr>
          <p:nvPr>
            <p:ph idx="1"/>
          </p:nvPr>
        </p:nvSpPr>
        <p:spPr>
          <a:xfrm>
            <a:off x="565279" y="1377754"/>
            <a:ext cx="11061441" cy="4351338"/>
          </a:xfrm>
        </p:spPr>
        <p:txBody>
          <a:bodyPr>
            <a:noAutofit/>
          </a:bodyPr>
          <a:lstStyle/>
          <a:p>
            <a:pPr algn="just"/>
            <a:r>
              <a:rPr lang="en-US" sz="2100" dirty="0"/>
              <a:t>Lack of real nuclear sensor fault datasets by using multi‑source digital twin and benchmark data.</a:t>
            </a:r>
          </a:p>
          <a:p>
            <a:pPr algn="just"/>
            <a:r>
              <a:rPr lang="en-US" sz="2100" dirty="0"/>
              <a:t>Black‑box AI models by integrating explainable AI (SHAP) for transparent fault decisions.</a:t>
            </a:r>
          </a:p>
          <a:p>
            <a:pPr algn="just"/>
            <a:r>
              <a:rPr lang="en-US" sz="2100" dirty="0"/>
              <a:t>No safety‑aware interpretation by linking sensor faults to nuclear protection logic (SCRAM, ECCS, LOCA).</a:t>
            </a:r>
          </a:p>
          <a:p>
            <a:pPr algn="just"/>
            <a:r>
              <a:rPr lang="en-US" sz="2100" dirty="0"/>
              <a:t>High false alarms during normal reactor transients by learning transient‑aware patterns using deep time‑series models.</a:t>
            </a:r>
          </a:p>
          <a:p>
            <a:pPr algn="just"/>
            <a:r>
              <a:rPr lang="en-US" sz="2100" dirty="0"/>
              <a:t>No fault severity estimation by introducing severity and safety‑impact scoring.</a:t>
            </a:r>
          </a:p>
          <a:p>
            <a:pPr algn="just"/>
            <a:r>
              <a:rPr lang="en-US" sz="2100" dirty="0"/>
              <a:t>Absence of sensor redundancy by implementing AI‑based virtual sensors.</a:t>
            </a:r>
          </a:p>
          <a:p>
            <a:pPr algn="just"/>
            <a:r>
              <a:rPr lang="en-US" sz="2100" dirty="0"/>
              <a:t>No continuous sensor health tracking by generating a real‑time sensor health index.</a:t>
            </a:r>
          </a:p>
          <a:p>
            <a:pPr algn="just"/>
            <a:r>
              <a:rPr lang="en-US" sz="2100" dirty="0"/>
              <a:t>Lack of cross‑dataset validation by testing the same AI pipeline on ODE, Simulink, and TEP data.</a:t>
            </a:r>
          </a:p>
          <a:p>
            <a:pPr algn="just"/>
            <a:r>
              <a:rPr lang="en-US" sz="2100" dirty="0"/>
              <a:t>No residual‑driven hybrid frameworks by combining virtual sensors with residual‑based anomaly detection.</a:t>
            </a:r>
          </a:p>
        </p:txBody>
      </p:sp>
    </p:spTree>
    <p:extLst>
      <p:ext uri="{BB962C8B-B14F-4D97-AF65-F5344CB8AC3E}">
        <p14:creationId xmlns:p14="http://schemas.microsoft.com/office/powerpoint/2010/main" val="2659458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7235-DEBC-A777-06BD-3354F50C6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71279-50F5-EA0E-1A71-055FB43B02F4}"/>
              </a:ext>
            </a:extLst>
          </p:cNvPr>
          <p:cNvSpPr>
            <a:spLocks noGrp="1"/>
          </p:cNvSpPr>
          <p:nvPr>
            <p:ph type="title"/>
          </p:nvPr>
        </p:nvSpPr>
        <p:spPr/>
        <p:txBody>
          <a:bodyPr/>
          <a:lstStyle/>
          <a:p>
            <a:pPr algn="ctr"/>
            <a:r>
              <a:rPr lang="en-US" dirty="0"/>
              <a:t>Objectives</a:t>
            </a:r>
            <a:endParaRPr lang="en-IN" dirty="0"/>
          </a:p>
        </p:txBody>
      </p:sp>
      <p:sp>
        <p:nvSpPr>
          <p:cNvPr id="5" name="Rectangle 2">
            <a:extLst>
              <a:ext uri="{FF2B5EF4-FFF2-40B4-BE49-F238E27FC236}">
                <a16:creationId xmlns:a16="http://schemas.microsoft.com/office/drawing/2014/main" id="{15594A44-5FC9-9AED-F894-ABAFF0C2C8AA}"/>
              </a:ext>
            </a:extLst>
          </p:cNvPr>
          <p:cNvSpPr>
            <a:spLocks noGrp="1" noChangeArrowheads="1"/>
          </p:cNvSpPr>
          <p:nvPr>
            <p:ph idx="1"/>
          </p:nvPr>
        </p:nvSpPr>
        <p:spPr bwMode="auto">
          <a:xfrm>
            <a:off x="525900" y="1364485"/>
            <a:ext cx="11140200"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rPr>
              <a:t>To develop an AI-based virtual sensor framework to estimate safety-critical nuclear cooling parameters (temperature, pressure, flow) using correlated reactor measurements.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rPr>
              <a:t>To detect early sensor faults by analyzing residuals between measured and predicted signals using ML and statistical anomaly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rPr>
              <a:t>To classify sensor fault patterns such as drift, bias, noise, stuck-at faults, and signal dropout for accurate diagnosis.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rPr>
              <a:t>To assess fault severity and safety impact by linking detected faults with nuclear protection functions (SCRAM, LOCA detection, ECCS actuation).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rPr>
              <a:t>To minimize false alarms during normal reactor transients by differentiating true plant dynamics from sensor degradation.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rPr>
              <a:t>To enhance decision transparency using explainable AI (SHAP) for operator and regulatory confidence.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rPr>
              <a:t>To monitor sensor health continuously and generate reliability/health scores to support predictive maintenance.</a:t>
            </a:r>
          </a:p>
        </p:txBody>
      </p:sp>
    </p:spTree>
    <p:extLst>
      <p:ext uri="{BB962C8B-B14F-4D97-AF65-F5344CB8AC3E}">
        <p14:creationId xmlns:p14="http://schemas.microsoft.com/office/powerpoint/2010/main" val="877531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672E-C531-8B4D-9E78-BC44747FF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767C7-B612-5B2C-ED1A-81579E7B3B33}"/>
              </a:ext>
            </a:extLst>
          </p:cNvPr>
          <p:cNvSpPr>
            <a:spLocks noGrp="1"/>
          </p:cNvSpPr>
          <p:nvPr>
            <p:ph type="title"/>
          </p:nvPr>
        </p:nvSpPr>
        <p:spPr/>
        <p:txBody>
          <a:bodyPr/>
          <a:lstStyle/>
          <a:p>
            <a:pPr lvl="0" algn="ctr" fontAlgn="base"/>
            <a:r>
              <a:rPr lang="en-IN" dirty="0"/>
              <a:t>Justification of Project SDG</a:t>
            </a:r>
          </a:p>
        </p:txBody>
      </p:sp>
      <p:sp>
        <p:nvSpPr>
          <p:cNvPr id="3" name="Content Placeholder 2">
            <a:extLst>
              <a:ext uri="{FF2B5EF4-FFF2-40B4-BE49-F238E27FC236}">
                <a16:creationId xmlns:a16="http://schemas.microsoft.com/office/drawing/2014/main" id="{362E39DE-7195-2F88-2B1C-D88F0B51D6CE}"/>
              </a:ext>
            </a:extLst>
          </p:cNvPr>
          <p:cNvSpPr>
            <a:spLocks noGrp="1"/>
          </p:cNvSpPr>
          <p:nvPr>
            <p:ph idx="1"/>
          </p:nvPr>
        </p:nvSpPr>
        <p:spPr>
          <a:xfrm>
            <a:off x="614264" y="1514605"/>
            <a:ext cx="10669555" cy="4805330"/>
          </a:xfrm>
        </p:spPr>
        <p:txBody>
          <a:bodyPr>
            <a:noAutofit/>
          </a:bodyPr>
          <a:lstStyle/>
          <a:p>
            <a:pPr marL="0" indent="0">
              <a:buNone/>
            </a:pPr>
            <a:r>
              <a:rPr lang="en-US" sz="2100" b="1" dirty="0"/>
              <a:t>SDG 7: Affordable and Clean Energy</a:t>
            </a:r>
            <a:r>
              <a:rPr lang="en-US" sz="2100" dirty="0"/>
              <a:t> aims to ensure reliable, sustainable, and modern energy for all. Nuclear power is a major source of low‑carbon, base‑load electricity, but its safe and continuous operation depends on highly reliable sensor systems in the reactor cooling loop. Sensor faults such as drift, bias, and noise can lead to incorrect plant state estimation, false reactor trips, or delayed safety actions, which reduce plant availability and increase operational costs. </a:t>
            </a:r>
          </a:p>
          <a:p>
            <a:pPr marL="0" indent="0">
              <a:buNone/>
            </a:pPr>
            <a:r>
              <a:rPr lang="en-US" sz="2100" dirty="0"/>
              <a:t>This project supports </a:t>
            </a:r>
            <a:r>
              <a:rPr lang="en-US" sz="2100" b="1" dirty="0"/>
              <a:t>SDG 7</a:t>
            </a:r>
            <a:r>
              <a:rPr lang="en-US" sz="2100" dirty="0"/>
              <a:t> by developing an </a:t>
            </a:r>
            <a:r>
              <a:rPr lang="en-US" sz="2100" b="1" dirty="0"/>
              <a:t>AI‑based, safety‑aware fault detection system</a:t>
            </a:r>
            <a:r>
              <a:rPr lang="en-US" sz="2100" dirty="0"/>
              <a:t> that:</a:t>
            </a:r>
          </a:p>
          <a:p>
            <a:r>
              <a:rPr lang="en-US" sz="2100" dirty="0"/>
              <a:t>Improves reliability of nuclear cooling instrumentation</a:t>
            </a:r>
          </a:p>
          <a:p>
            <a:r>
              <a:rPr lang="en-US" sz="2100" dirty="0"/>
              <a:t>Reduces unplanned shutdowns and false alarms</a:t>
            </a:r>
          </a:p>
          <a:p>
            <a:r>
              <a:rPr lang="en-US" sz="2100" dirty="0"/>
              <a:t>Enhances early fault detection and maintenance planning</a:t>
            </a:r>
          </a:p>
          <a:p>
            <a:r>
              <a:rPr lang="en-US" sz="2100" dirty="0"/>
              <a:t>Increases operational safety and system efficiency</a:t>
            </a:r>
          </a:p>
          <a:p>
            <a:pPr marL="0" indent="0">
              <a:buNone/>
            </a:pPr>
            <a:r>
              <a:rPr lang="en-US" sz="2100" dirty="0"/>
              <a:t>By strengthening the safety and reliability of nuclear power plants, the proposed system contributes to </a:t>
            </a:r>
            <a:r>
              <a:rPr lang="en-US" sz="2100" b="1" dirty="0"/>
              <a:t>sustainable, affordable, and clean energy production.</a:t>
            </a:r>
            <a:endParaRPr lang="en-US" sz="2100" dirty="0"/>
          </a:p>
          <a:p>
            <a:endParaRPr lang="en-IN" sz="2100" dirty="0"/>
          </a:p>
        </p:txBody>
      </p:sp>
    </p:spTree>
    <p:extLst>
      <p:ext uri="{BB962C8B-B14F-4D97-AF65-F5344CB8AC3E}">
        <p14:creationId xmlns:p14="http://schemas.microsoft.com/office/powerpoint/2010/main" val="340359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9BF0E-621B-2C7B-FCEC-BD99F54C8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85B29-6DD3-DCB7-4F61-723DEBA6B6C0}"/>
              </a:ext>
            </a:extLst>
          </p:cNvPr>
          <p:cNvSpPr>
            <a:spLocks noGrp="1"/>
          </p:cNvSpPr>
          <p:nvPr>
            <p:ph type="title"/>
          </p:nvPr>
        </p:nvSpPr>
        <p:spPr/>
        <p:txBody>
          <a:bodyPr/>
          <a:lstStyle/>
          <a:p>
            <a:pPr lvl="0" algn="ctr" fontAlgn="base"/>
            <a:r>
              <a:rPr lang="en-IN" dirty="0"/>
              <a:t>Plan of Action (Timeline)</a:t>
            </a:r>
          </a:p>
        </p:txBody>
      </p:sp>
      <p:pic>
        <p:nvPicPr>
          <p:cNvPr id="5" name="Picture 4">
            <a:extLst>
              <a:ext uri="{FF2B5EF4-FFF2-40B4-BE49-F238E27FC236}">
                <a16:creationId xmlns:a16="http://schemas.microsoft.com/office/drawing/2014/main" id="{59923052-C4D6-DB8A-F6AB-17EBC515A4C6}"/>
              </a:ext>
            </a:extLst>
          </p:cNvPr>
          <p:cNvPicPr>
            <a:picLocks noChangeAspect="1"/>
          </p:cNvPicPr>
          <p:nvPr/>
        </p:nvPicPr>
        <p:blipFill>
          <a:blip r:embed="rId2"/>
          <a:srcRect t="1" b="1647"/>
          <a:stretch>
            <a:fillRect/>
          </a:stretch>
        </p:blipFill>
        <p:spPr>
          <a:xfrm>
            <a:off x="1309019" y="1370102"/>
            <a:ext cx="9573961" cy="5003266"/>
          </a:xfrm>
          <a:prstGeom prst="rect">
            <a:avLst/>
          </a:prstGeom>
        </p:spPr>
      </p:pic>
    </p:spTree>
    <p:extLst>
      <p:ext uri="{BB962C8B-B14F-4D97-AF65-F5344CB8AC3E}">
        <p14:creationId xmlns:p14="http://schemas.microsoft.com/office/powerpoint/2010/main" val="19421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06A3D-FBA8-DA48-213D-A10C6B70D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A26DD-1655-45CC-BF0E-BA1F37E0EFD9}"/>
              </a:ext>
            </a:extLst>
          </p:cNvPr>
          <p:cNvSpPr>
            <a:spLocks noGrp="1"/>
          </p:cNvSpPr>
          <p:nvPr>
            <p:ph type="title"/>
          </p:nvPr>
        </p:nvSpPr>
        <p:spPr/>
        <p:txBody>
          <a:bodyPr/>
          <a:lstStyle/>
          <a:p>
            <a:pPr lvl="0" algn="ctr" fontAlgn="base"/>
            <a:r>
              <a:rPr lang="en-IN" dirty="0"/>
              <a:t>References</a:t>
            </a:r>
          </a:p>
        </p:txBody>
      </p:sp>
      <p:sp>
        <p:nvSpPr>
          <p:cNvPr id="3" name="Content Placeholder 2">
            <a:extLst>
              <a:ext uri="{FF2B5EF4-FFF2-40B4-BE49-F238E27FC236}">
                <a16:creationId xmlns:a16="http://schemas.microsoft.com/office/drawing/2014/main" id="{7B7FCC51-8FEC-3A19-A555-E81BAB0BCBA1}"/>
              </a:ext>
            </a:extLst>
          </p:cNvPr>
          <p:cNvSpPr>
            <a:spLocks noGrp="1"/>
          </p:cNvSpPr>
          <p:nvPr>
            <p:ph idx="1"/>
          </p:nvPr>
        </p:nvSpPr>
        <p:spPr>
          <a:xfrm>
            <a:off x="838200" y="1589249"/>
            <a:ext cx="10515600" cy="4351338"/>
          </a:xfrm>
        </p:spPr>
        <p:txBody>
          <a:bodyPr>
            <a:noAutofit/>
          </a:bodyPr>
          <a:lstStyle/>
          <a:p>
            <a:pPr marL="514350" indent="-514350" algn="just">
              <a:buFont typeface="+mj-lt"/>
              <a:buAutoNum type="arabicPeriod"/>
            </a:pPr>
            <a:r>
              <a:rPr lang="en-US" sz="1300" dirty="0"/>
              <a:t>Kim, J., Lee, S., &amp; Park, H., “AI‑based fault detection in nuclear I&amp;C systems,” </a:t>
            </a:r>
            <a:r>
              <a:rPr lang="en-US" sz="1300" i="1" dirty="0"/>
              <a:t>Annals of Nuclear Energy</a:t>
            </a:r>
            <a:r>
              <a:rPr lang="en-US" sz="1300" dirty="0"/>
              <a:t>, vol. 155, 2021.</a:t>
            </a:r>
          </a:p>
          <a:p>
            <a:pPr marL="514350" indent="-514350" algn="just">
              <a:buFont typeface="+mj-lt"/>
              <a:buAutoNum type="arabicPeriod"/>
            </a:pPr>
            <a:r>
              <a:rPr lang="en-US" sz="1300" dirty="0"/>
              <a:t>Wang, H., Zhang, Y., &amp; Li, Q., “Virtual sensor modelling for nuclear reactor cooling loops,” </a:t>
            </a:r>
            <a:r>
              <a:rPr lang="en-US" sz="1300" i="1" dirty="0"/>
              <a:t>Nuclear Engineering and Design</a:t>
            </a:r>
            <a:r>
              <a:rPr lang="en-US" sz="1300" dirty="0"/>
              <a:t>, vol. 384, 2022.</a:t>
            </a:r>
          </a:p>
          <a:p>
            <a:pPr marL="514350" indent="-514350" algn="just">
              <a:buFont typeface="+mj-lt"/>
              <a:buAutoNum type="arabicPeriod"/>
            </a:pPr>
            <a:r>
              <a:rPr lang="en-US" sz="1300" dirty="0"/>
              <a:t>Li, Y., Chen, Z., &amp; Xu, L., “Residual‑based fault detection using digital twin models,” </a:t>
            </a:r>
            <a:r>
              <a:rPr lang="en-US" sz="1300" i="1" dirty="0"/>
              <a:t>Reliability Engineering &amp; System Safety</a:t>
            </a:r>
            <a:r>
              <a:rPr lang="en-US" sz="1300" dirty="0"/>
              <a:t>, vol. 199, 2020.</a:t>
            </a:r>
          </a:p>
          <a:p>
            <a:pPr marL="514350" indent="-514350" algn="just">
              <a:buFont typeface="+mj-lt"/>
              <a:buAutoNum type="arabicPeriod"/>
            </a:pPr>
            <a:r>
              <a:rPr lang="en-US" sz="1300" dirty="0"/>
              <a:t>Zhao, Q., Sun, M., &amp; Liu, X., “LSTM autoencoder for multivariate sensor anomaly detection,” </a:t>
            </a:r>
            <a:r>
              <a:rPr lang="en-US" sz="1300" i="1" dirty="0"/>
              <a:t>IEEE Access</a:t>
            </a:r>
            <a:r>
              <a:rPr lang="en-US" sz="1300" dirty="0"/>
              <a:t>, vol. 11, 2023.</a:t>
            </a:r>
          </a:p>
          <a:p>
            <a:pPr marL="514350" indent="-514350" algn="just">
              <a:buFont typeface="+mj-lt"/>
              <a:buAutoNum type="arabicPeriod"/>
            </a:pPr>
            <a:r>
              <a:rPr lang="en-US" sz="1300" dirty="0"/>
              <a:t>Sun, M., Zhao, L., &amp; Wang, J., “Hybrid digital twin and AI framework for fault detection,” </a:t>
            </a:r>
            <a:r>
              <a:rPr lang="en-US" sz="1300" i="1" dirty="0"/>
              <a:t>Energy AI</a:t>
            </a:r>
            <a:r>
              <a:rPr lang="en-US" sz="1300" dirty="0"/>
              <a:t>, vol. 5, 2021.</a:t>
            </a:r>
          </a:p>
          <a:p>
            <a:pPr marL="514350" indent="-514350" algn="just">
              <a:buFont typeface="+mj-lt"/>
              <a:buAutoNum type="arabicPeriod"/>
            </a:pPr>
            <a:r>
              <a:rPr lang="en-US" sz="1300" dirty="0"/>
              <a:t>Chen, T., Huang, R., &amp; Gao, Y., “Sensor health monitoring in nuclear power plants,” </a:t>
            </a:r>
            <a:r>
              <a:rPr lang="en-US" sz="1300" i="1" dirty="0"/>
              <a:t>Progress in Nuclear Energy</a:t>
            </a:r>
            <a:r>
              <a:rPr lang="en-US" sz="1300" dirty="0"/>
              <a:t>, vol. 142, 2022.</a:t>
            </a:r>
          </a:p>
          <a:p>
            <a:pPr marL="514350" indent="-514350" algn="just">
              <a:buFont typeface="+mj-lt"/>
              <a:buAutoNum type="arabicPeriod"/>
            </a:pPr>
            <a:r>
              <a:rPr lang="en-US" sz="1300" dirty="0"/>
              <a:t>Patel, R., Shah, D., &amp; Mehta, A., “Explainable AI for safety‑critical systems using SHAP,” </a:t>
            </a:r>
            <a:r>
              <a:rPr lang="en-US" sz="1300" i="1" dirty="0"/>
              <a:t>Engineering Applications of Artificial Intelligence</a:t>
            </a:r>
            <a:r>
              <a:rPr lang="en-US" sz="1300" dirty="0"/>
              <a:t>, vol. 113, 2023.</a:t>
            </a:r>
          </a:p>
          <a:p>
            <a:pPr marL="514350" indent="-514350" algn="just">
              <a:buFont typeface="+mj-lt"/>
              <a:buAutoNum type="arabicPeriod"/>
            </a:pPr>
            <a:r>
              <a:rPr lang="en-US" sz="1300" dirty="0"/>
              <a:t>Ahmed, S., Rahman, M., &amp; Hasan, T., “Fault diagnosis using </a:t>
            </a:r>
            <a:r>
              <a:rPr lang="en-US" sz="1300" dirty="0" err="1"/>
              <a:t>XGBoost</a:t>
            </a:r>
            <a:r>
              <a:rPr lang="en-US" sz="1300" dirty="0"/>
              <a:t> and residual features,” </a:t>
            </a:r>
            <a:r>
              <a:rPr lang="en-US" sz="1300" i="1" dirty="0"/>
              <a:t>ISA Transactions</a:t>
            </a:r>
            <a:r>
              <a:rPr lang="en-US" sz="1300" dirty="0"/>
              <a:t>, vol. 96, 2020.</a:t>
            </a:r>
          </a:p>
          <a:p>
            <a:pPr marL="514350" indent="-514350" algn="just">
              <a:buFont typeface="+mj-lt"/>
              <a:buAutoNum type="arabicPeriod"/>
            </a:pPr>
            <a:r>
              <a:rPr lang="en-US" sz="1300" dirty="0"/>
              <a:t>Zhang, P., Li, X., &amp; Zhou, K., “LSTM‑based monitoring of nuclear transient conditions,” </a:t>
            </a:r>
            <a:r>
              <a:rPr lang="en-US" sz="1300" i="1" dirty="0"/>
              <a:t>Nuclear Science and Engineering</a:t>
            </a:r>
            <a:r>
              <a:rPr lang="en-US" sz="1300" dirty="0"/>
              <a:t>, vol. 196, 2022.</a:t>
            </a:r>
          </a:p>
          <a:p>
            <a:pPr marL="514350" indent="-514350" algn="just">
              <a:buFont typeface="+mj-lt"/>
              <a:buAutoNum type="arabicPeriod"/>
            </a:pPr>
            <a:r>
              <a:rPr lang="en-US" sz="1300" dirty="0"/>
              <a:t>Bonsu, J. O., &amp; Adeoye, M. B., “AI‑Driven Fault Detection and Diagnostics in Nuclear Power Plant Control Systems: A Review,” </a:t>
            </a:r>
            <a:r>
              <a:rPr lang="en-US" sz="1300" i="1" dirty="0" err="1"/>
              <a:t>Sarcouncil</a:t>
            </a:r>
            <a:r>
              <a:rPr lang="en-US" sz="1300" i="1" dirty="0"/>
              <a:t> Journal of Engineering and Computer Sciences</a:t>
            </a:r>
            <a:r>
              <a:rPr lang="en-US" sz="1300" dirty="0"/>
              <a:t>, vol. 4, no. 9, pp. 552–559, 2025.</a:t>
            </a:r>
          </a:p>
          <a:p>
            <a:pPr marL="514350" indent="-514350" algn="just">
              <a:buFont typeface="+mj-lt"/>
              <a:buAutoNum type="arabicPeriod"/>
            </a:pPr>
            <a:r>
              <a:rPr lang="en-US" sz="1300" dirty="0"/>
              <a:t>Downs, J. J., &amp; Vogel, E. F., “A plant‑wide industrial process control problem,” </a:t>
            </a:r>
            <a:r>
              <a:rPr lang="en-US" sz="1300" i="1" dirty="0"/>
              <a:t>Computers &amp; Chemical Engineering</a:t>
            </a:r>
            <a:r>
              <a:rPr lang="en-US" sz="1300" dirty="0"/>
              <a:t>, vol. 17, no. 3, pp. 245–255, 1993. (TEP dataset)</a:t>
            </a:r>
          </a:p>
          <a:p>
            <a:pPr marL="514350" indent="-514350" algn="just">
              <a:buFont typeface="+mj-lt"/>
              <a:buAutoNum type="arabicPeriod"/>
            </a:pPr>
            <a:r>
              <a:rPr lang="en-US" sz="1300" dirty="0"/>
              <a:t>Lundberg, S. M., &amp; Lee, S.‑I., “A unified approach to interpreting model predictions,” </a:t>
            </a:r>
            <a:r>
              <a:rPr lang="en-US" sz="1300" i="1" dirty="0"/>
              <a:t>Advances in Neural Information Processing Systems (</a:t>
            </a:r>
            <a:r>
              <a:rPr lang="en-US" sz="1300" i="1" dirty="0" err="1"/>
              <a:t>NeurIPS</a:t>
            </a:r>
            <a:r>
              <a:rPr lang="en-US" sz="1300" i="1" dirty="0"/>
              <a:t>)</a:t>
            </a:r>
            <a:r>
              <a:rPr lang="en-US" sz="1300" dirty="0"/>
              <a:t>, 2017. (SHAP)</a:t>
            </a:r>
          </a:p>
        </p:txBody>
      </p:sp>
    </p:spTree>
    <p:extLst>
      <p:ext uri="{BB962C8B-B14F-4D97-AF65-F5344CB8AC3E}">
        <p14:creationId xmlns:p14="http://schemas.microsoft.com/office/powerpoint/2010/main" val="277091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1809</Words>
  <Application>Microsoft Office PowerPoint</Application>
  <PresentationFormat>Widescreen</PresentationFormat>
  <Paragraphs>114</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Office Theme</vt:lpstr>
      <vt:lpstr> ZEROTH REVIEW AI‑Based Fault Detection in Virtual Sensors for Enhancing Safety in Nuclear Reactor Cooling Systems Project Category: RESEARCH</vt:lpstr>
      <vt:lpstr>Abstract</vt:lpstr>
      <vt:lpstr>Introduction</vt:lpstr>
      <vt:lpstr>Literature Survey</vt:lpstr>
      <vt:lpstr>Literature Survey</vt:lpstr>
      <vt:lpstr>Research Gaps</vt:lpstr>
      <vt:lpstr>Objectives</vt:lpstr>
      <vt:lpstr>Justification of Project SDG</vt:lpstr>
      <vt:lpstr>Plan of Action (Timeline)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senthil kumar</dc:creator>
  <cp:lastModifiedBy>RANDOM cosmos</cp:lastModifiedBy>
  <cp:revision>8</cp:revision>
  <dcterms:created xsi:type="dcterms:W3CDTF">2024-07-15T07:58:00Z</dcterms:created>
  <dcterms:modified xsi:type="dcterms:W3CDTF">2026-01-23T05:57:37Z</dcterms:modified>
</cp:coreProperties>
</file>